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 Les presento un sistema de recuperación de información sobre noticias de la BBC. Partimos de 2,225 noticias en cinco categorías, las limpiamos y construimos seis formas de buscar: conteo, TF-IDF, BM25, SVD, Word2Vec y LDA. Las comparamos con 115 consultas. Veremos qué encontramos, qué método rinde mejor y con qué cautelas deben leerse los resultados, empezando por el problema.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problema es sencillo de enunciar: dada una consulta en lenguaje natural, devolver las noticias más parecidas. Con 2,225 noticias de la BBC repartidas en cinco categorías, leerlas una por una no es práctico. Por eso construimos un buscador y, sobre todo, comparamos seis maneras de representar el texto, porque la elección de esa representación cambia mucho qué documentos aparecen primero.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corpus: cinco categorías, de 386 noticias de entretenimiento a 511 de deporte. Deporte y negocios suman 45.89% de las 2,225 noticias, pero ninguna categoría domina, así que no esperamos un sesgo fuerte hacia un tema. Esto importa porque más adelante usaremos la categoría como criterio de relevancia: un documento es relevante si comparte categoría con la consulta.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indexar limpiamos el corpus. Encontramos 99 noticias duplicadas exactas, siempre con la misma categoría, y las eliminamos: quedaron 2,126 documentos. Si se dejaran, un duplicado del documento de origen sería un acierto trivial y las métricas saldrían infladas. Después normalizamos el texto, quitamos stopwords y lematizamos, lo que dejó un vocabulario de 24,971 palabras.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ley de Zipf dice que pocas palabras concentran muchas apariciones. Ajustamos los rangos 1 a 1,000 y obtuvimos un exponente de 0.6088, con R cuadrada de 0.9469. Es más bajo que el uno clásico porque quitamos las stopwords, que son justo las palabras más frecuentes. El mensaje práctico: unas cuantas palabras pesan mucho, y por eso ponderar por rareza tiene sentido.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ley de Heaps mide cuánto crece el vocabulario al leer más texto. Con un exponente beta de 0.5387, dentro del rango típico, el vocabulario sigue creciendo sin estabilizarse: terminamos con 24,971 palabras distintas en 385,689 tokens, y 39.97% aparece una sola vez. Eso significa que siempre habrá consultas con palabras que el índice apenas vio, algo a tener presente al evaluar.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categoría tiene su propio vocabulario. Estas nubes muestran deporte, política y tecnología; el tamaño destaca las palabras frecuentes y propias de cada una, no las genéricas. En deporte aparecen nombres como Roddick o Mourinho, en política Tory y UKIP, en tecnología spam y browser. Esta huella léxica justifica usar la categoría como criterio de relevancia, aunque sea un criterio imperfecto.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Así funciona el buscador. La consulta pasa por la misma limpieza que el corpus, se convierte en un vector según el método elegido y se compara con los 2,126 documentos mediante similitud coseno, o con el puntaje BM25. El resultado es un ranking y nos quedamos con los k más cercanos. Lo que cambia entre métodos es sobre todo cómo se construye ese vector.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Cuatro de los métodos evaluados. El conteo, que en código es CountVectorizer, cuenta apariciones. TF-IDF pondera por rareza. BM25 añade saturación de frecuencia y normalización por longitud. SVD comprime la matriz en 200 dimensiones latentes. Además evaluamos Word2Vec y LDA con 10 tópicos; Word2Vec aparece en seguida porque obtuvo el mejor MAP@10 de los seis.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Evaluamos con 115 consultas: 100 automáticas y 15 manuales. Como no hay juicios de relevancia, un documento cuenta como relevante si su categoría coincide con la esperada. Con ese supuesto, Word2Vec obtiene 88.17% de MAP@10 y SVD 84.28%. Cuidado: la diferencia de 3.89 puntos tiene un intervalo de confianza de 95% entre -0.38 y 8.22, así que no podemos afirmar que Word2Vec supere a SVD.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Entre los métodos léxicos, BM25 obtiene 74.22% de MAP@10, TF-IDF 72.73% y conteo 68.70%. BM25 supera a TF-IDF por 1.49 puntos, pero el intervalo incluye cero, así que en la práctica son equivalentes; solo la ventaja sobre el conteo es clara, 5.52 puntos. Recordemos que relevante significa misma categoría que la consulta. SVD supera a BM25 por 10.06 puntos, y Word2Vec es además el más rápido, con 2.46 milisegundos.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Separamos las consultas por tipo. Con las 15 manuales, de dos a cuatro palabras y muy temáticas, SVD y Word2Vec llegan a 100.00% y el peor, el conteo, a 93.64%: casi no discriminan. Con los 100 titulares de ocho palabras, que mezclan nombres propios y palabras genéricas, Word2Vec logra 86.39% y el conteo 64.96%. Las diferencias aparecen en las consultas difíciles. Y la categoría sigue siendo solo un proxy de relevancia.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ejemplo real con Word2Vec: la consulta election labour party vote. Los tres primeros resultados son de política, la categoría esperada. Los títulos son los primeros términos de cada nota, por eso se ven recortados. Conviene recordar que acierto de categoría no es lo mismo que satisfacción del usuario: una nota de la categoría correcta puede no tratar exactamente el tema consultado.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resumen, Word2Vec y SVD recuperan mejor que los métodos léxicos, pero entre ellos la diferencia no es concluyente con 115 consultas. Recomendamos Word2Vec como método principal, por su precisión y velocidad, SVD como alternativa, y validar con juicios de relevancia reales, porque la categoría es solo un proxy. BM25 sirve como línea base léxica sencilla. Gracias; quedo atento a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itulo"/>
          <p:cNvSpPr txBox="1"/>
          <p:nvPr/>
        </p:nvSpPr>
        <p:spPr>
          <a:xfrm>
            <a:off x="548640" y="1371600"/>
            <a:ext cx="8275091" cy="1524000"/>
          </a:xfrm>
          <a:prstGeom prst="rect">
            <a:avLst/>
          </a:prstGeom>
          <a:noFill/>
        </p:spPr>
        <p:txBody>
          <a:bodyPr wrap="square" tIns="91440" bIns="91440" anchor="t">
            <a:noAutofit/>
          </a:bodyPr>
          <a:lstStyle/>
          <a:p>
            <a:pPr algn="l"/>
            <a:r>
              <a:rPr sz="4400" b="1">
                <a:solidFill>
                  <a:srgbClr val="F6F4EF"/>
                </a:solidFill>
                <a:latin typeface="Georgia"/>
              </a:rPr>
              <a:t>Recuperación de información en </a:t>
            </a:r>
            <a:r>
              <a:rPr sz="4400" b="1">
                <a:solidFill>
                  <a:srgbClr val="E07A1F"/>
                </a:solidFill>
                <a:latin typeface="Georgia"/>
              </a:rPr>
              <a:t>BBC News</a:t>
            </a:r>
          </a:p>
        </p:txBody>
      </p:sp>
      <p:sp>
        <p:nvSpPr>
          <p:cNvPr id="3" name="Subtitulo"/>
          <p:cNvSpPr txBox="1"/>
          <p:nvPr/>
        </p:nvSpPr>
        <p:spPr>
          <a:xfrm>
            <a:off x="548640" y="3032760"/>
            <a:ext cx="8275091" cy="487680"/>
          </a:xfrm>
          <a:prstGeom prst="rect">
            <a:avLst/>
          </a:prstGeom>
          <a:noFill/>
        </p:spPr>
        <p:txBody>
          <a:bodyPr wrap="square" tIns="91440" bIns="91440" anchor="t">
            <a:noAutofit/>
          </a:bodyPr>
          <a:lstStyle/>
          <a:p>
            <a:pPr algn="l"/>
            <a:r>
              <a:rPr sz="2000" b="0">
                <a:solidFill>
                  <a:srgbClr val="C9CCD1"/>
                </a:solidFill>
                <a:latin typeface="Calibri"/>
              </a:rPr>
              <a:t>Seis buscadores, 2,126 noticias, 115 consultas</a:t>
            </a:r>
          </a:p>
        </p:txBody>
      </p:sp>
      <p:sp>
        <p:nvSpPr>
          <p:cNvPr id="4" name="Marcador icono"/>
          <p:cNvSpPr/>
          <p:nvPr/>
        </p:nvSpPr>
        <p:spPr>
          <a:xfrm>
            <a:off x="9006611" y="1463040"/>
            <a:ext cx="2636444" cy="2636444"/>
          </a:xfrm>
          <a:prstGeom prst="roundRect">
            <a:avLst>
              <a:gd name="adj" fmla="val 5202"/>
            </a:avLst>
          </a:prstGeom>
          <a:noFill/>
          <a:ln w="22225">
            <a:solidFill>
              <a:srgbClr val="E07A1F"/>
            </a:solidFill>
            <a:prstDash val="dash"/>
          </a:ln>
        </p:spPr>
        <p:txBody>
          <a:bodyPr rtlCol="0" anchor="ctr" wrap="square" tIns="91440" bIns="91440">
            <a:noAutofit/>
          </a:bodyPr>
          <a:lstStyle/>
          <a:p>
            <a:pPr algn="ctr"/>
            <a:r>
              <a:rPr sz="1200" b="0">
                <a:solidFill>
                  <a:srgbClr val="C9CCD1"/>
                </a:solidFill>
                <a:latin typeface="Calibri"/>
              </a:rPr>
              <a:t>ICONO: lupa sobre un periódico</a:t>
            </a:r>
          </a:p>
        </p:txBody>
      </p:sp>
      <p:sp>
        <p:nvSpPr>
          <p:cNvPr id="5" name="Equipo"/>
          <p:cNvSpPr txBox="1"/>
          <p:nvPr/>
        </p:nvSpPr>
        <p:spPr>
          <a:xfrm>
            <a:off x="548640" y="5852160"/>
            <a:ext cx="2636444" cy="548640"/>
          </a:xfrm>
          <a:prstGeom prst="rect">
            <a:avLst/>
          </a:prstGeom>
          <a:noFill/>
        </p:spPr>
        <p:txBody>
          <a:bodyPr wrap="square" tIns="91440" bIns="91440" anchor="b">
            <a:noAutofit/>
          </a:bodyPr>
          <a:lstStyle/>
          <a:p>
            <a:pPr algn="l"/>
            <a:r>
              <a:rPr sz="1200" b="0">
                <a:solidFill>
                  <a:srgbClr val="C9CCD1"/>
                </a:solidFill>
                <a:latin typeface="Calibri"/>
              </a:rPr>
              <a:t>Diego Moctezuma</a:t>
            </a:r>
          </a:p>
        </p:txBody>
      </p:sp>
      <p:sp>
        <p:nvSpPr>
          <p:cNvPr id="6" name="Materia"/>
          <p:cNvSpPr txBox="1"/>
          <p:nvPr/>
        </p:nvSpPr>
        <p:spPr>
          <a:xfrm>
            <a:off x="3367964" y="5852160"/>
            <a:ext cx="4515993" cy="548640"/>
          </a:xfrm>
          <a:prstGeom prst="rect">
            <a:avLst/>
          </a:prstGeom>
          <a:noFill/>
        </p:spPr>
        <p:txBody>
          <a:bodyPr wrap="square" tIns="91440" bIns="91440" anchor="b">
            <a:noAutofit/>
          </a:bodyPr>
          <a:lstStyle/>
          <a:p>
            <a:pPr algn="l"/>
            <a:r>
              <a:rPr sz="1200" b="0">
                <a:solidFill>
                  <a:srgbClr val="C9CCD1"/>
                </a:solidFill>
                <a:latin typeface="Calibri"/>
              </a:rPr>
              <a:t>Minería de Textos · Ciencia de Datos</a:t>
            </a:r>
          </a:p>
        </p:txBody>
      </p:sp>
      <p:sp>
        <p:nvSpPr>
          <p:cNvPr id="7" name="Fecha"/>
          <p:cNvSpPr txBox="1"/>
          <p:nvPr/>
        </p:nvSpPr>
        <p:spPr>
          <a:xfrm>
            <a:off x="8066837" y="5852160"/>
            <a:ext cx="3576218" cy="548640"/>
          </a:xfrm>
          <a:prstGeom prst="rect">
            <a:avLst/>
          </a:prstGeom>
          <a:noFill/>
        </p:spPr>
        <p:txBody>
          <a:bodyPr wrap="square" tIns="91440" bIns="91440" anchor="b">
            <a:noAutofit/>
          </a:bodyPr>
          <a:lstStyle/>
          <a:p>
            <a:pPr algn="r"/>
            <a:r>
              <a:rPr sz="1200" b="0">
                <a:solidFill>
                  <a:srgbClr val="C9CCD1"/>
                </a:solidFill>
                <a:latin typeface="Calibri"/>
              </a:rPr>
              <a:t>11 de octubre de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itulo"/>
          <p:cNvSpPr txBox="1"/>
          <p:nvPr/>
        </p:nvSpPr>
        <p:spPr>
          <a:xfrm>
            <a:off x="548640" y="457200"/>
            <a:ext cx="11094415" cy="1097280"/>
          </a:xfrm>
          <a:prstGeom prst="rect">
            <a:avLst/>
          </a:prstGeom>
          <a:noFill/>
        </p:spPr>
        <p:txBody>
          <a:bodyPr wrap="square" tIns="91440" bIns="91440" anchor="t">
            <a:noAutofit/>
          </a:bodyPr>
          <a:lstStyle/>
          <a:p>
            <a:pPr algn="l"/>
            <a:r>
              <a:rPr sz="3000" b="1">
                <a:solidFill>
                  <a:srgbClr val="1B1F24"/>
                </a:solidFill>
                <a:latin typeface="Georgia"/>
              </a:rPr>
              <a:t>Encontrar la noticia correcta entre 2,225 exige un buscador, no paciencia</a:t>
            </a:r>
          </a:p>
        </p:txBody>
      </p:sp>
      <p:sp>
        <p:nvSpPr>
          <p:cNvPr id="3" name="Cifra grande"/>
          <p:cNvSpPr txBox="1"/>
          <p:nvPr/>
        </p:nvSpPr>
        <p:spPr>
          <a:xfrm>
            <a:off x="548640" y="2750820"/>
            <a:ext cx="5455768" cy="1859280"/>
          </a:xfrm>
          <a:prstGeom prst="rect">
            <a:avLst/>
          </a:prstGeom>
          <a:noFill/>
        </p:spPr>
        <p:txBody>
          <a:bodyPr wrap="square" tIns="91440" bIns="91440" anchor="ctr">
            <a:noAutofit/>
          </a:bodyPr>
          <a:lstStyle/>
          <a:p>
            <a:pPr algn="l"/>
            <a:r>
              <a:rPr sz="11000" b="1">
                <a:solidFill>
                  <a:srgbClr val="B05400"/>
                </a:solidFill>
                <a:latin typeface="Georgia"/>
              </a:rPr>
              <a:t>2,225</a:t>
            </a:r>
          </a:p>
        </p:txBody>
      </p:sp>
      <p:sp>
        <p:nvSpPr>
          <p:cNvPr id="4" name="Etiqueta de la cifra"/>
          <p:cNvSpPr txBox="1"/>
          <p:nvPr/>
        </p:nvSpPr>
        <p:spPr>
          <a:xfrm>
            <a:off x="548640" y="4610100"/>
            <a:ext cx="5455768" cy="365760"/>
          </a:xfrm>
          <a:prstGeom prst="rect">
            <a:avLst/>
          </a:prstGeom>
          <a:noFill/>
        </p:spPr>
        <p:txBody>
          <a:bodyPr wrap="square" tIns="91440" bIns="91440" anchor="t">
            <a:noAutofit/>
          </a:bodyPr>
          <a:lstStyle/>
          <a:p>
            <a:pPr algn="l"/>
            <a:r>
              <a:rPr sz="1200" b="0">
                <a:solidFill>
                  <a:srgbClr val="5C6370"/>
                </a:solidFill>
                <a:latin typeface="Calibri"/>
              </a:rPr>
              <a:t>noticias de la BBC</a:t>
            </a:r>
          </a:p>
        </p:txBody>
      </p:sp>
      <p:sp>
        <p:nvSpPr>
          <p:cNvPr id="5" name="Frase de apoyo"/>
          <p:cNvSpPr txBox="1"/>
          <p:nvPr/>
        </p:nvSpPr>
        <p:spPr>
          <a:xfrm>
            <a:off x="6187288" y="3314700"/>
            <a:ext cx="5455768" cy="1097280"/>
          </a:xfrm>
          <a:prstGeom prst="rect">
            <a:avLst/>
          </a:prstGeom>
          <a:noFill/>
        </p:spPr>
        <p:txBody>
          <a:bodyPr wrap="square" tIns="91440" bIns="91440" anchor="ctr">
            <a:noAutofit/>
          </a:bodyPr>
          <a:lstStyle/>
          <a:p>
            <a:pPr algn="l"/>
            <a:r>
              <a:rPr sz="2000" b="0">
                <a:solidFill>
                  <a:srgbClr val="1B1F24"/>
                </a:solidFill>
                <a:latin typeface="Calibri"/>
              </a:rPr>
              <a:t>Cinco categorías. Probamos seis formas de ordenar las noticias por su parecido con la consulta.</a:t>
            </a:r>
          </a:p>
        </p:txBody>
      </p:sp>
      <p:sp>
        <p:nvSpPr>
          <p:cNvPr id="6" name="Pie proyecto"/>
          <p:cNvSpPr txBox="1"/>
          <p:nvPr/>
        </p:nvSpPr>
        <p:spPr>
          <a:xfrm>
            <a:off x="548640" y="6035040"/>
            <a:ext cx="3576218" cy="365760"/>
          </a:xfrm>
          <a:prstGeom prst="rect">
            <a:avLst/>
          </a:prstGeom>
          <a:noFill/>
        </p:spPr>
        <p:txBody>
          <a:bodyPr wrap="square" tIns="91440" bIns="91440" anchor="t">
            <a:noAutofit/>
          </a:bodyPr>
          <a:lstStyle/>
          <a:p>
            <a:pPr algn="l"/>
            <a:r>
              <a:rPr sz="1200" b="0">
                <a:solidFill>
                  <a:srgbClr val="5C6370"/>
                </a:solidFill>
                <a:latin typeface="Calibri"/>
              </a:rPr>
              <a:t>BBC News IR</a:t>
            </a:r>
          </a:p>
        </p:txBody>
      </p:sp>
      <p:sp>
        <p:nvSpPr>
          <p:cNvPr id="7" name="Numero de diapositiva"/>
          <p:cNvSpPr txBox="1"/>
          <p:nvPr/>
        </p:nvSpPr>
        <p:spPr>
          <a:xfrm>
            <a:off x="9946386" y="6035040"/>
            <a:ext cx="1696669" cy="365760"/>
          </a:xfrm>
          <a:prstGeom prst="rect">
            <a:avLst/>
          </a:prstGeom>
          <a:noFill/>
        </p:spPr>
        <p:txBody>
          <a:bodyPr wrap="square" tIns="91440" bIns="91440" anchor="t">
            <a:noAutofit/>
          </a:bodyPr>
          <a:lstStyle/>
          <a:p>
            <a:pPr algn="r"/>
            <a:r>
              <a:rPr sz="1200" b="0">
                <a:solidFill>
                  <a:srgbClr val="5C637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itulo"/>
          <p:cNvSpPr txBox="1"/>
          <p:nvPr/>
        </p:nvSpPr>
        <p:spPr>
          <a:xfrm>
            <a:off x="548640" y="457200"/>
            <a:ext cx="11094415" cy="640080"/>
          </a:xfrm>
          <a:prstGeom prst="rect">
            <a:avLst/>
          </a:prstGeom>
          <a:noFill/>
        </p:spPr>
        <p:txBody>
          <a:bodyPr wrap="square" tIns="91440" bIns="91440" anchor="t">
            <a:noAutofit/>
          </a:bodyPr>
          <a:lstStyle/>
          <a:p>
            <a:pPr algn="l"/>
            <a:r>
              <a:rPr sz="3000" b="1">
                <a:solidFill>
                  <a:srgbClr val="1B1F24"/>
                </a:solidFill>
                <a:latin typeface="Georgia"/>
              </a:rPr>
              <a:t>Deporte y negocios suman 45.89% de las 2,225 noticias</a:t>
            </a:r>
          </a:p>
        </p:txBody>
      </p:sp>
      <p:pic>
        <p:nvPicPr>
          <p:cNvPr id="3" name="Imagen cat_distribucion" descr="Barras horizontales con el número de noticias por categoría; deporte (511) y negocios (510) destacan en naranja"/>
          <p:cNvPicPr>
            <a:picLocks noChangeAspect="1"/>
          </p:cNvPicPr>
          <p:nvPr/>
        </p:nvPicPr>
        <p:blipFill>
          <a:blip r:embed="rId2"/>
          <a:stretch>
            <a:fillRect/>
          </a:stretch>
        </p:blipFill>
        <p:spPr>
          <a:xfrm>
            <a:off x="548640" y="1325880"/>
            <a:ext cx="7335317" cy="3667658"/>
          </a:xfrm>
          <a:prstGeom prst="rect">
            <a:avLst/>
          </a:prstGeom>
        </p:spPr>
      </p:pic>
      <p:sp>
        <p:nvSpPr>
          <p:cNvPr id="4" name="Mensaje clave"/>
          <p:cNvSpPr txBox="1"/>
          <p:nvPr/>
        </p:nvSpPr>
        <p:spPr>
          <a:xfrm>
            <a:off x="8066837" y="1325880"/>
            <a:ext cx="3576218" cy="1097280"/>
          </a:xfrm>
          <a:prstGeom prst="rect">
            <a:avLst/>
          </a:prstGeom>
          <a:noFill/>
        </p:spPr>
        <p:txBody>
          <a:bodyPr wrap="square" tIns="91440" bIns="91440" anchor="t">
            <a:noAutofit/>
          </a:bodyPr>
          <a:lstStyle/>
          <a:p>
            <a:pPr algn="l"/>
            <a:r>
              <a:rPr sz="2000" b="0">
                <a:solidFill>
                  <a:srgbClr val="1B1F24"/>
                </a:solidFill>
                <a:latin typeface="Calibri"/>
              </a:rPr>
              <a:t>Ninguna categoría domina: cada una tiene entre 386 y 511 noticias.</a:t>
            </a:r>
          </a:p>
        </p:txBody>
      </p:sp>
      <p:sp>
        <p:nvSpPr>
          <p:cNvPr id="5" name="Pie de fuente"/>
          <p:cNvSpPr txBox="1"/>
          <p:nvPr/>
        </p:nvSpPr>
        <p:spPr>
          <a:xfrm>
            <a:off x="8066837" y="5577840"/>
            <a:ext cx="3576218" cy="365760"/>
          </a:xfrm>
          <a:prstGeom prst="rect">
            <a:avLst/>
          </a:prstGeom>
          <a:noFill/>
        </p:spPr>
        <p:txBody>
          <a:bodyPr wrap="square" tIns="91440" bIns="91440" anchor="b">
            <a:noAutofit/>
          </a:bodyPr>
          <a:lstStyle/>
          <a:p>
            <a:pPr algn="l"/>
            <a:r>
              <a:rPr sz="1200" b="0">
                <a:solidFill>
                  <a:srgbClr val="5C6370"/>
                </a:solidFill>
                <a:latin typeface="Calibri"/>
              </a:rPr>
              <a:t>Fuente: reports/eda_raw.json</a:t>
            </a:r>
          </a:p>
        </p:txBody>
      </p:sp>
      <p:sp>
        <p:nvSpPr>
          <p:cNvPr id="6" name="Pie proyecto"/>
          <p:cNvSpPr txBox="1"/>
          <p:nvPr/>
        </p:nvSpPr>
        <p:spPr>
          <a:xfrm>
            <a:off x="548640" y="6035040"/>
            <a:ext cx="3576218" cy="365760"/>
          </a:xfrm>
          <a:prstGeom prst="rect">
            <a:avLst/>
          </a:prstGeom>
          <a:noFill/>
        </p:spPr>
        <p:txBody>
          <a:bodyPr wrap="square" tIns="91440" bIns="91440" anchor="t">
            <a:noAutofit/>
          </a:bodyPr>
          <a:lstStyle/>
          <a:p>
            <a:pPr algn="l"/>
            <a:r>
              <a:rPr sz="1200" b="0">
                <a:solidFill>
                  <a:srgbClr val="5C6370"/>
                </a:solidFill>
                <a:latin typeface="Calibri"/>
              </a:rPr>
              <a:t>BBC News IR</a:t>
            </a:r>
          </a:p>
        </p:txBody>
      </p:sp>
      <p:sp>
        <p:nvSpPr>
          <p:cNvPr id="7" name="Numero de diapositiva"/>
          <p:cNvSpPr txBox="1"/>
          <p:nvPr/>
        </p:nvSpPr>
        <p:spPr>
          <a:xfrm>
            <a:off x="9946386" y="6035040"/>
            <a:ext cx="1696669" cy="365760"/>
          </a:xfrm>
          <a:prstGeom prst="rect">
            <a:avLst/>
          </a:prstGeom>
          <a:noFill/>
        </p:spPr>
        <p:txBody>
          <a:bodyPr wrap="square" tIns="91440" bIns="91440" anchor="t">
            <a:noAutofit/>
          </a:bodyPr>
          <a:lstStyle/>
          <a:p>
            <a:pPr algn="r"/>
            <a:r>
              <a:rPr sz="1200" b="0">
                <a:solidFill>
                  <a:srgbClr val="5C637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itulo"/>
          <p:cNvSpPr txBox="1"/>
          <p:nvPr/>
        </p:nvSpPr>
        <p:spPr>
          <a:xfrm>
            <a:off x="548640" y="457200"/>
            <a:ext cx="11094415" cy="1097280"/>
          </a:xfrm>
          <a:prstGeom prst="rect">
            <a:avLst/>
          </a:prstGeom>
          <a:noFill/>
        </p:spPr>
        <p:txBody>
          <a:bodyPr wrap="square" tIns="91440" bIns="91440" anchor="t">
            <a:noAutofit/>
          </a:bodyPr>
          <a:lstStyle/>
          <a:p>
            <a:pPr algn="l"/>
            <a:r>
              <a:rPr sz="3000" b="1">
                <a:solidFill>
                  <a:srgbClr val="1B1F24"/>
                </a:solidFill>
                <a:latin typeface="Georgia"/>
              </a:rPr>
              <a:t>99 noticias estaban duplicadas y quedaron 2,126 documentos únicos</a:t>
            </a:r>
          </a:p>
        </p:txBody>
      </p:sp>
      <p:sp>
        <p:nvSpPr>
          <p:cNvPr id="3" name="Cifra grande"/>
          <p:cNvSpPr txBox="1"/>
          <p:nvPr/>
        </p:nvSpPr>
        <p:spPr>
          <a:xfrm>
            <a:off x="548640" y="2750820"/>
            <a:ext cx="5455768" cy="1859280"/>
          </a:xfrm>
          <a:prstGeom prst="rect">
            <a:avLst/>
          </a:prstGeom>
          <a:noFill/>
        </p:spPr>
        <p:txBody>
          <a:bodyPr wrap="square" tIns="91440" bIns="91440" anchor="ctr">
            <a:noAutofit/>
          </a:bodyPr>
          <a:lstStyle/>
          <a:p>
            <a:pPr algn="l"/>
            <a:r>
              <a:rPr sz="11000" b="1">
                <a:solidFill>
                  <a:srgbClr val="B05400"/>
                </a:solidFill>
                <a:latin typeface="Georgia"/>
              </a:rPr>
              <a:t>2,126</a:t>
            </a:r>
          </a:p>
        </p:txBody>
      </p:sp>
      <p:sp>
        <p:nvSpPr>
          <p:cNvPr id="4" name="Etiqueta de la cifra"/>
          <p:cNvSpPr txBox="1"/>
          <p:nvPr/>
        </p:nvSpPr>
        <p:spPr>
          <a:xfrm>
            <a:off x="548640" y="4610100"/>
            <a:ext cx="5455768" cy="365760"/>
          </a:xfrm>
          <a:prstGeom prst="rect">
            <a:avLst/>
          </a:prstGeom>
          <a:noFill/>
        </p:spPr>
        <p:txBody>
          <a:bodyPr wrap="square" tIns="91440" bIns="91440" anchor="t">
            <a:noAutofit/>
          </a:bodyPr>
          <a:lstStyle/>
          <a:p>
            <a:pPr algn="l"/>
            <a:r>
              <a:rPr sz="1200" b="0">
                <a:solidFill>
                  <a:srgbClr val="5C6370"/>
                </a:solidFill>
                <a:latin typeface="Calibri"/>
              </a:rPr>
              <a:t>documentos únicos</a:t>
            </a:r>
          </a:p>
        </p:txBody>
      </p:sp>
      <p:sp>
        <p:nvSpPr>
          <p:cNvPr id="5" name="Frase de apoyo"/>
          <p:cNvSpPr txBox="1"/>
          <p:nvPr/>
        </p:nvSpPr>
        <p:spPr>
          <a:xfrm>
            <a:off x="6187288" y="3314700"/>
            <a:ext cx="5455768" cy="1097280"/>
          </a:xfrm>
          <a:prstGeom prst="rect">
            <a:avLst/>
          </a:prstGeom>
          <a:noFill/>
        </p:spPr>
        <p:txBody>
          <a:bodyPr wrap="square" tIns="91440" bIns="91440" anchor="ctr">
            <a:noAutofit/>
          </a:bodyPr>
          <a:lstStyle/>
          <a:p>
            <a:pPr algn="l"/>
            <a:r>
              <a:rPr sz="2000" b="0">
                <a:solidFill>
                  <a:srgbClr val="1B1F24"/>
                </a:solidFill>
                <a:latin typeface="Calibri"/>
              </a:rPr>
              <a:t>Eran 99 pares de textos idénticos con la misma categoría; dejarlos podría inflar los aciertos.</a:t>
            </a:r>
          </a:p>
        </p:txBody>
      </p:sp>
      <p:sp>
        <p:nvSpPr>
          <p:cNvPr id="6" name="Pie proyecto"/>
          <p:cNvSpPr txBox="1"/>
          <p:nvPr/>
        </p:nvSpPr>
        <p:spPr>
          <a:xfrm>
            <a:off x="548640" y="6035040"/>
            <a:ext cx="3576218" cy="365760"/>
          </a:xfrm>
          <a:prstGeom prst="rect">
            <a:avLst/>
          </a:prstGeom>
          <a:noFill/>
        </p:spPr>
        <p:txBody>
          <a:bodyPr wrap="square" tIns="91440" bIns="91440" anchor="t">
            <a:noAutofit/>
          </a:bodyPr>
          <a:lstStyle/>
          <a:p>
            <a:pPr algn="l"/>
            <a:r>
              <a:rPr sz="1200" b="0">
                <a:solidFill>
                  <a:srgbClr val="5C6370"/>
                </a:solidFill>
                <a:latin typeface="Calibri"/>
              </a:rPr>
              <a:t>BBC News IR</a:t>
            </a:r>
          </a:p>
        </p:txBody>
      </p:sp>
      <p:sp>
        <p:nvSpPr>
          <p:cNvPr id="7" name="Numero de diapositiva"/>
          <p:cNvSpPr txBox="1"/>
          <p:nvPr/>
        </p:nvSpPr>
        <p:spPr>
          <a:xfrm>
            <a:off x="9946386" y="6035040"/>
            <a:ext cx="1696669" cy="365760"/>
          </a:xfrm>
          <a:prstGeom prst="rect">
            <a:avLst/>
          </a:prstGeom>
          <a:noFill/>
        </p:spPr>
        <p:txBody>
          <a:bodyPr wrap="square" tIns="91440" bIns="91440" anchor="t">
            <a:noAutofit/>
          </a:bodyPr>
          <a:lstStyle/>
          <a:p>
            <a:pPr algn="r"/>
            <a:r>
              <a:rPr sz="1200" b="0">
                <a:solidFill>
                  <a:srgbClr val="5C637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itulo"/>
          <p:cNvSpPr txBox="1"/>
          <p:nvPr/>
        </p:nvSpPr>
        <p:spPr>
          <a:xfrm>
            <a:off x="548640" y="457200"/>
            <a:ext cx="11094415" cy="1097280"/>
          </a:xfrm>
          <a:prstGeom prst="rect">
            <a:avLst/>
          </a:prstGeom>
          <a:noFill/>
        </p:spPr>
        <p:txBody>
          <a:bodyPr wrap="square" tIns="91440" bIns="91440" anchor="t">
            <a:noAutofit/>
          </a:bodyPr>
          <a:lstStyle/>
          <a:p>
            <a:pPr algn="l"/>
            <a:r>
              <a:rPr sz="3000" b="1">
                <a:solidFill>
                  <a:srgbClr val="1B1F24"/>
                </a:solidFill>
                <a:latin typeface="Georgia"/>
              </a:rPr>
              <a:t>Pocas palabras dominan el corpus: la frecuencia cae con exponente s = 0.6088</a:t>
            </a:r>
          </a:p>
        </p:txBody>
      </p:sp>
      <p:pic>
        <p:nvPicPr>
          <p:cNvPr id="3" name="Imagen zipf" descr="Gráfica log-log de rango contra frecuencia con la recta de Zipf ajustada en naranja"/>
          <p:cNvPicPr>
            <a:picLocks noChangeAspect="1"/>
          </p:cNvPicPr>
          <p:nvPr/>
        </p:nvPicPr>
        <p:blipFill>
          <a:blip r:embed="rId2"/>
          <a:stretch>
            <a:fillRect/>
          </a:stretch>
        </p:blipFill>
        <p:spPr>
          <a:xfrm>
            <a:off x="548640" y="1783080"/>
            <a:ext cx="7335317" cy="3667658"/>
          </a:xfrm>
          <a:prstGeom prst="rect">
            <a:avLst/>
          </a:prstGeom>
        </p:spPr>
      </p:pic>
      <p:sp>
        <p:nvSpPr>
          <p:cNvPr id="4" name="Mensaje clave"/>
          <p:cNvSpPr txBox="1"/>
          <p:nvPr/>
        </p:nvSpPr>
        <p:spPr>
          <a:xfrm>
            <a:off x="8066837" y="1783080"/>
            <a:ext cx="3576218" cy="1706880"/>
          </a:xfrm>
          <a:prstGeom prst="rect">
            <a:avLst/>
          </a:prstGeom>
          <a:noFill/>
        </p:spPr>
        <p:txBody>
          <a:bodyPr wrap="square" tIns="91440" bIns="91440" anchor="t">
            <a:noAutofit/>
          </a:bodyPr>
          <a:lstStyle/>
          <a:p>
            <a:pPr algn="l"/>
            <a:r>
              <a:rPr sz="2000" b="0">
                <a:solidFill>
                  <a:srgbClr val="1B1F24"/>
                </a:solidFill>
                <a:latin typeface="Calibri"/>
              </a:rPr>
              <a:t>El exponente es bajo porque se quitaron las stopwords. El ajuste cubre los rangos 1 a 1,000 (R² = 0.9469).</a:t>
            </a:r>
          </a:p>
        </p:txBody>
      </p:sp>
      <p:sp>
        <p:nvSpPr>
          <p:cNvPr id="5" name="Pie de fuente"/>
          <p:cNvSpPr txBox="1"/>
          <p:nvPr/>
        </p:nvSpPr>
        <p:spPr>
          <a:xfrm>
            <a:off x="8066837" y="5577840"/>
            <a:ext cx="3576218" cy="365760"/>
          </a:xfrm>
          <a:prstGeom prst="rect">
            <a:avLst/>
          </a:prstGeom>
          <a:noFill/>
        </p:spPr>
        <p:txBody>
          <a:bodyPr wrap="square" tIns="91440" bIns="91440" anchor="b">
            <a:noAutofit/>
          </a:bodyPr>
          <a:lstStyle/>
          <a:p>
            <a:pPr algn="l"/>
            <a:r>
              <a:rPr sz="1200" b="0">
                <a:solidFill>
                  <a:srgbClr val="5C6370"/>
                </a:solidFill>
                <a:latin typeface="Calibri"/>
              </a:rPr>
              <a:t>Fuente: reports/eda_corpus.json</a:t>
            </a:r>
          </a:p>
        </p:txBody>
      </p:sp>
      <p:sp>
        <p:nvSpPr>
          <p:cNvPr id="6" name="Pie proyecto"/>
          <p:cNvSpPr txBox="1"/>
          <p:nvPr/>
        </p:nvSpPr>
        <p:spPr>
          <a:xfrm>
            <a:off x="548640" y="6035040"/>
            <a:ext cx="3576218" cy="365760"/>
          </a:xfrm>
          <a:prstGeom prst="rect">
            <a:avLst/>
          </a:prstGeom>
          <a:noFill/>
        </p:spPr>
        <p:txBody>
          <a:bodyPr wrap="square" tIns="91440" bIns="91440" anchor="t">
            <a:noAutofit/>
          </a:bodyPr>
          <a:lstStyle/>
          <a:p>
            <a:pPr algn="l"/>
            <a:r>
              <a:rPr sz="1200" b="0">
                <a:solidFill>
                  <a:srgbClr val="5C6370"/>
                </a:solidFill>
                <a:latin typeface="Calibri"/>
              </a:rPr>
              <a:t>BBC News IR</a:t>
            </a:r>
          </a:p>
        </p:txBody>
      </p:sp>
      <p:sp>
        <p:nvSpPr>
          <p:cNvPr id="7" name="Numero de diapositiva"/>
          <p:cNvSpPr txBox="1"/>
          <p:nvPr/>
        </p:nvSpPr>
        <p:spPr>
          <a:xfrm>
            <a:off x="9946386" y="6035040"/>
            <a:ext cx="1696669" cy="365760"/>
          </a:xfrm>
          <a:prstGeom prst="rect">
            <a:avLst/>
          </a:prstGeom>
          <a:noFill/>
        </p:spPr>
        <p:txBody>
          <a:bodyPr wrap="square" tIns="91440" bIns="91440" anchor="t">
            <a:noAutofit/>
          </a:bodyPr>
          <a:lstStyle/>
          <a:p>
            <a:pPr algn="r"/>
            <a:r>
              <a:rPr sz="1200" b="0">
                <a:solidFill>
                  <a:srgbClr val="5C637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itulo"/>
          <p:cNvSpPr txBox="1"/>
          <p:nvPr/>
        </p:nvSpPr>
        <p:spPr>
          <a:xfrm>
            <a:off x="548640" y="457200"/>
            <a:ext cx="11094415" cy="640080"/>
          </a:xfrm>
          <a:prstGeom prst="rect">
            <a:avLst/>
          </a:prstGeom>
          <a:noFill/>
        </p:spPr>
        <p:txBody>
          <a:bodyPr wrap="square" tIns="91440" bIns="91440" anchor="t">
            <a:noAutofit/>
          </a:bodyPr>
          <a:lstStyle/>
          <a:p>
            <a:pPr algn="l"/>
            <a:r>
              <a:rPr sz="3000" b="1">
                <a:solidFill>
                  <a:srgbClr val="1B1F24"/>
                </a:solidFill>
                <a:latin typeface="Georgia"/>
              </a:rPr>
              <a:t>El vocabulario no deja de crecer: β = 0.5387</a:t>
            </a:r>
          </a:p>
        </p:txBody>
      </p:sp>
      <p:pic>
        <p:nvPicPr>
          <p:cNvPr id="3" name="Imagen heaps" descr="Crecimiento del vocabulario contra tokens leídos con la curva de Heaps ajustada en naranja"/>
          <p:cNvPicPr>
            <a:picLocks noChangeAspect="1"/>
          </p:cNvPicPr>
          <p:nvPr/>
        </p:nvPicPr>
        <p:blipFill>
          <a:blip r:embed="rId2"/>
          <a:stretch>
            <a:fillRect/>
          </a:stretch>
        </p:blipFill>
        <p:spPr>
          <a:xfrm>
            <a:off x="548640" y="1325880"/>
            <a:ext cx="7335317" cy="3667658"/>
          </a:xfrm>
          <a:prstGeom prst="rect">
            <a:avLst/>
          </a:prstGeom>
        </p:spPr>
      </p:pic>
      <p:sp>
        <p:nvSpPr>
          <p:cNvPr id="4" name="Mensaje clave"/>
          <p:cNvSpPr txBox="1"/>
          <p:nvPr/>
        </p:nvSpPr>
        <p:spPr>
          <a:xfrm>
            <a:off x="8066837" y="1325880"/>
            <a:ext cx="3576218" cy="1402080"/>
          </a:xfrm>
          <a:prstGeom prst="rect">
            <a:avLst/>
          </a:prstGeom>
          <a:noFill/>
        </p:spPr>
        <p:txBody>
          <a:bodyPr wrap="square" tIns="91440" bIns="91440" anchor="t">
            <a:noAutofit/>
          </a:bodyPr>
          <a:lstStyle/>
          <a:p>
            <a:pPr algn="l"/>
            <a:r>
              <a:rPr sz="2000" b="0">
                <a:solidFill>
                  <a:srgbClr val="1B1F24"/>
                </a:solidFill>
                <a:latin typeface="Calibri"/>
              </a:rPr>
              <a:t>Hay 24,971 palabras distintas en 385,689 tokens, y 39.97% aparece una sola vez.</a:t>
            </a:r>
          </a:p>
        </p:txBody>
      </p:sp>
      <p:sp>
        <p:nvSpPr>
          <p:cNvPr id="5" name="Pie de fuente"/>
          <p:cNvSpPr txBox="1"/>
          <p:nvPr/>
        </p:nvSpPr>
        <p:spPr>
          <a:xfrm>
            <a:off x="8066837" y="5577840"/>
            <a:ext cx="3576218" cy="365760"/>
          </a:xfrm>
          <a:prstGeom prst="rect">
            <a:avLst/>
          </a:prstGeom>
          <a:noFill/>
        </p:spPr>
        <p:txBody>
          <a:bodyPr wrap="square" tIns="91440" bIns="91440" anchor="b">
            <a:noAutofit/>
          </a:bodyPr>
          <a:lstStyle/>
          <a:p>
            <a:pPr algn="l"/>
            <a:r>
              <a:rPr sz="1200" b="0">
                <a:solidFill>
                  <a:srgbClr val="5C6370"/>
                </a:solidFill>
                <a:latin typeface="Calibri"/>
              </a:rPr>
              <a:t>Fuente: reports/eda_corpus.json</a:t>
            </a:r>
          </a:p>
        </p:txBody>
      </p:sp>
      <p:sp>
        <p:nvSpPr>
          <p:cNvPr id="6" name="Pie proyecto"/>
          <p:cNvSpPr txBox="1"/>
          <p:nvPr/>
        </p:nvSpPr>
        <p:spPr>
          <a:xfrm>
            <a:off x="548640" y="6035040"/>
            <a:ext cx="3576218" cy="365760"/>
          </a:xfrm>
          <a:prstGeom prst="rect">
            <a:avLst/>
          </a:prstGeom>
          <a:noFill/>
        </p:spPr>
        <p:txBody>
          <a:bodyPr wrap="square" tIns="91440" bIns="91440" anchor="t">
            <a:noAutofit/>
          </a:bodyPr>
          <a:lstStyle/>
          <a:p>
            <a:pPr algn="l"/>
            <a:r>
              <a:rPr sz="1200" b="0">
                <a:solidFill>
                  <a:srgbClr val="5C6370"/>
                </a:solidFill>
                <a:latin typeface="Calibri"/>
              </a:rPr>
              <a:t>BBC News IR</a:t>
            </a:r>
          </a:p>
        </p:txBody>
      </p:sp>
      <p:sp>
        <p:nvSpPr>
          <p:cNvPr id="7" name="Numero de diapositiva"/>
          <p:cNvSpPr txBox="1"/>
          <p:nvPr/>
        </p:nvSpPr>
        <p:spPr>
          <a:xfrm>
            <a:off x="9946386" y="6035040"/>
            <a:ext cx="1696669" cy="365760"/>
          </a:xfrm>
          <a:prstGeom prst="rect">
            <a:avLst/>
          </a:prstGeom>
          <a:noFill/>
        </p:spPr>
        <p:txBody>
          <a:bodyPr wrap="square" tIns="91440" bIns="91440" anchor="t">
            <a:noAutofit/>
          </a:bodyPr>
          <a:lstStyle/>
          <a:p>
            <a:pPr algn="r"/>
            <a:r>
              <a:rPr sz="1200" b="0">
                <a:solidFill>
                  <a:srgbClr val="5C637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itulo"/>
          <p:cNvSpPr txBox="1"/>
          <p:nvPr/>
        </p:nvSpPr>
        <p:spPr>
          <a:xfrm>
            <a:off x="548640" y="457200"/>
            <a:ext cx="11094415" cy="640080"/>
          </a:xfrm>
          <a:prstGeom prst="rect">
            <a:avLst/>
          </a:prstGeom>
          <a:noFill/>
        </p:spPr>
        <p:txBody>
          <a:bodyPr wrap="square" tIns="91440" bIns="91440" anchor="t">
            <a:noAutofit/>
          </a:bodyPr>
          <a:lstStyle/>
          <a:p>
            <a:pPr algn="l"/>
            <a:r>
              <a:rPr sz="3000" b="1">
                <a:solidFill>
                  <a:srgbClr val="1B1F24"/>
                </a:solidFill>
                <a:latin typeface="Georgia"/>
              </a:rPr>
              <a:t>Cada categoría tiene su propia huella de palabras</a:t>
            </a:r>
          </a:p>
        </p:txBody>
      </p:sp>
      <p:pic>
        <p:nvPicPr>
          <p:cNvPr id="3" name="Imagen wordcloud_sport" descr="Nube de palabras de deporte"/>
          <p:cNvPicPr>
            <a:picLocks noChangeAspect="1"/>
          </p:cNvPicPr>
          <p:nvPr/>
        </p:nvPicPr>
        <p:blipFill>
          <a:blip r:embed="rId2"/>
          <a:stretch>
            <a:fillRect/>
          </a:stretch>
        </p:blipFill>
        <p:spPr>
          <a:xfrm>
            <a:off x="640080" y="1562100"/>
            <a:ext cx="3393338" cy="2001200"/>
          </a:xfrm>
          <a:prstGeom prst="rect">
            <a:avLst/>
          </a:prstGeom>
        </p:spPr>
      </p:pic>
      <p:sp>
        <p:nvSpPr>
          <p:cNvPr id="4" name="Bloque 1 nombre"/>
          <p:cNvSpPr txBox="1"/>
          <p:nvPr/>
        </p:nvSpPr>
        <p:spPr>
          <a:xfrm>
            <a:off x="548640" y="3756660"/>
            <a:ext cx="3576218" cy="487680"/>
          </a:xfrm>
          <a:prstGeom prst="rect">
            <a:avLst/>
          </a:prstGeom>
          <a:noFill/>
        </p:spPr>
        <p:txBody>
          <a:bodyPr wrap="square" tIns="91440" bIns="91440" anchor="t">
            <a:noAutofit/>
          </a:bodyPr>
          <a:lstStyle/>
          <a:p>
            <a:pPr algn="l"/>
            <a:r>
              <a:rPr sz="2000" b="1">
                <a:solidFill>
                  <a:srgbClr val="1B1F24"/>
                </a:solidFill>
                <a:latin typeface="Calibri"/>
              </a:rPr>
              <a:t>Deporte</a:t>
            </a:r>
          </a:p>
        </p:txBody>
      </p:sp>
      <p:sp>
        <p:nvSpPr>
          <p:cNvPr id="5" name="Bloque 1 frase"/>
          <p:cNvSpPr txBox="1"/>
          <p:nvPr/>
        </p:nvSpPr>
        <p:spPr>
          <a:xfrm>
            <a:off x="548640" y="4244340"/>
            <a:ext cx="3576218" cy="1097280"/>
          </a:xfrm>
          <a:prstGeom prst="rect">
            <a:avLst/>
          </a:prstGeom>
          <a:noFill/>
        </p:spPr>
        <p:txBody>
          <a:bodyPr wrap="square" tIns="91440" bIns="91440" anchor="t">
            <a:noAutofit/>
          </a:bodyPr>
          <a:lstStyle/>
          <a:p>
            <a:pPr algn="l"/>
            <a:r>
              <a:rPr sz="2000" b="0">
                <a:solidFill>
                  <a:srgbClr val="1B1F24"/>
                </a:solidFill>
                <a:latin typeface="Calibri"/>
              </a:rPr>
              <a:t>Tenistas y técnicos: roddick, nadal, mourinho, wenger.</a:t>
            </a:r>
          </a:p>
        </p:txBody>
      </p:sp>
      <p:pic>
        <p:nvPicPr>
          <p:cNvPr id="6" name="Imagen wordcloud_politics" descr="Nube de palabras de política"/>
          <p:cNvPicPr>
            <a:picLocks noChangeAspect="1"/>
          </p:cNvPicPr>
          <p:nvPr/>
        </p:nvPicPr>
        <p:blipFill>
          <a:blip r:embed="rId3"/>
          <a:stretch>
            <a:fillRect/>
          </a:stretch>
        </p:blipFill>
        <p:spPr>
          <a:xfrm>
            <a:off x="4399178" y="1562100"/>
            <a:ext cx="3393338" cy="2001200"/>
          </a:xfrm>
          <a:prstGeom prst="rect">
            <a:avLst/>
          </a:prstGeom>
        </p:spPr>
      </p:pic>
      <p:sp>
        <p:nvSpPr>
          <p:cNvPr id="7" name="Bloque 2 nombre"/>
          <p:cNvSpPr txBox="1"/>
          <p:nvPr/>
        </p:nvSpPr>
        <p:spPr>
          <a:xfrm>
            <a:off x="4307738" y="3756660"/>
            <a:ext cx="3576218" cy="487680"/>
          </a:xfrm>
          <a:prstGeom prst="rect">
            <a:avLst/>
          </a:prstGeom>
          <a:noFill/>
        </p:spPr>
        <p:txBody>
          <a:bodyPr wrap="square" tIns="91440" bIns="91440" anchor="t">
            <a:noAutofit/>
          </a:bodyPr>
          <a:lstStyle/>
          <a:p>
            <a:pPr algn="l"/>
            <a:r>
              <a:rPr sz="2000" b="1">
                <a:solidFill>
                  <a:srgbClr val="1B1F24"/>
                </a:solidFill>
                <a:latin typeface="Calibri"/>
              </a:rPr>
              <a:t>Política</a:t>
            </a:r>
          </a:p>
        </p:txBody>
      </p:sp>
      <p:sp>
        <p:nvSpPr>
          <p:cNvPr id="8" name="Bloque 2 frase"/>
          <p:cNvSpPr txBox="1"/>
          <p:nvPr/>
        </p:nvSpPr>
        <p:spPr>
          <a:xfrm>
            <a:off x="4307738" y="4244340"/>
            <a:ext cx="3576218" cy="1097280"/>
          </a:xfrm>
          <a:prstGeom prst="rect">
            <a:avLst/>
          </a:prstGeom>
          <a:noFill/>
        </p:spPr>
        <p:txBody>
          <a:bodyPr wrap="square" tIns="91440" bIns="91440" anchor="t">
            <a:noAutofit/>
          </a:bodyPr>
          <a:lstStyle/>
          <a:p>
            <a:pPr algn="l"/>
            <a:r>
              <a:rPr sz="2000" b="0">
                <a:solidFill>
                  <a:srgbClr val="1B1F24"/>
                </a:solidFill>
                <a:latin typeface="Calibri"/>
              </a:rPr>
              <a:t>Partidos y casos: tory, ukip, blunkett, asylum.</a:t>
            </a:r>
          </a:p>
        </p:txBody>
      </p:sp>
      <p:pic>
        <p:nvPicPr>
          <p:cNvPr id="9" name="Imagen wordcloud_tech" descr="Nube de palabras de tecnología"/>
          <p:cNvPicPr>
            <a:picLocks noChangeAspect="1"/>
          </p:cNvPicPr>
          <p:nvPr/>
        </p:nvPicPr>
        <p:blipFill>
          <a:blip r:embed="rId4"/>
          <a:stretch>
            <a:fillRect/>
          </a:stretch>
        </p:blipFill>
        <p:spPr>
          <a:xfrm>
            <a:off x="8158277" y="1562100"/>
            <a:ext cx="3393338" cy="2001200"/>
          </a:xfrm>
          <a:prstGeom prst="rect">
            <a:avLst/>
          </a:prstGeom>
        </p:spPr>
      </p:pic>
      <p:sp>
        <p:nvSpPr>
          <p:cNvPr id="10" name="Bloque 3 nombre"/>
          <p:cNvSpPr txBox="1"/>
          <p:nvPr/>
        </p:nvSpPr>
        <p:spPr>
          <a:xfrm>
            <a:off x="8066837" y="3756660"/>
            <a:ext cx="3576218" cy="487680"/>
          </a:xfrm>
          <a:prstGeom prst="rect">
            <a:avLst/>
          </a:prstGeom>
          <a:noFill/>
        </p:spPr>
        <p:txBody>
          <a:bodyPr wrap="square" tIns="91440" bIns="91440" anchor="t">
            <a:noAutofit/>
          </a:bodyPr>
          <a:lstStyle/>
          <a:p>
            <a:pPr algn="l"/>
            <a:r>
              <a:rPr sz="2000" b="1">
                <a:solidFill>
                  <a:srgbClr val="1B1F24"/>
                </a:solidFill>
                <a:latin typeface="Calibri"/>
              </a:rPr>
              <a:t>Tecnología</a:t>
            </a:r>
          </a:p>
        </p:txBody>
      </p:sp>
      <p:sp>
        <p:nvSpPr>
          <p:cNvPr id="11" name="Bloque 3 frase"/>
          <p:cNvSpPr txBox="1"/>
          <p:nvPr/>
        </p:nvSpPr>
        <p:spPr>
          <a:xfrm>
            <a:off x="8066837" y="4244340"/>
            <a:ext cx="3576218" cy="1097280"/>
          </a:xfrm>
          <a:prstGeom prst="rect">
            <a:avLst/>
          </a:prstGeom>
          <a:noFill/>
        </p:spPr>
        <p:txBody>
          <a:bodyPr wrap="square" tIns="91440" bIns="91440" anchor="t">
            <a:noAutofit/>
          </a:bodyPr>
          <a:lstStyle/>
          <a:p>
            <a:pPr algn="l"/>
            <a:r>
              <a:rPr sz="2000" b="0">
                <a:solidFill>
                  <a:srgbClr val="1B1F24"/>
                </a:solidFill>
                <a:latin typeface="Calibri"/>
              </a:rPr>
              <a:t>Internet y consolas: spam, browser, wifi, psp.</a:t>
            </a:r>
          </a:p>
        </p:txBody>
      </p:sp>
      <p:sp>
        <p:nvSpPr>
          <p:cNvPr id="12" name="Pie de fuente"/>
          <p:cNvSpPr txBox="1"/>
          <p:nvPr/>
        </p:nvSpPr>
        <p:spPr>
          <a:xfrm>
            <a:off x="548640" y="5577840"/>
            <a:ext cx="11094415" cy="365760"/>
          </a:xfrm>
          <a:prstGeom prst="rect">
            <a:avLst/>
          </a:prstGeom>
          <a:noFill/>
        </p:spPr>
        <p:txBody>
          <a:bodyPr wrap="square" tIns="91440" bIns="91440" anchor="t">
            <a:noAutofit/>
          </a:bodyPr>
          <a:lstStyle/>
          <a:p>
            <a:pPr algn="l"/>
            <a:r>
              <a:rPr sz="1200" b="0">
                <a:solidFill>
                  <a:srgbClr val="5C6370"/>
                </a:solidFill>
                <a:latin typeface="Calibri"/>
              </a:rPr>
              <a:t>Tamaño: palabras frecuentes y propias de cada categoría.</a:t>
            </a:r>
          </a:p>
        </p:txBody>
      </p:sp>
      <p:sp>
        <p:nvSpPr>
          <p:cNvPr id="13" name="Pie proyecto"/>
          <p:cNvSpPr txBox="1"/>
          <p:nvPr/>
        </p:nvSpPr>
        <p:spPr>
          <a:xfrm>
            <a:off x="548640" y="6035040"/>
            <a:ext cx="3576218" cy="365760"/>
          </a:xfrm>
          <a:prstGeom prst="rect">
            <a:avLst/>
          </a:prstGeom>
          <a:noFill/>
        </p:spPr>
        <p:txBody>
          <a:bodyPr wrap="square" tIns="91440" bIns="91440" anchor="t">
            <a:noAutofit/>
          </a:bodyPr>
          <a:lstStyle/>
          <a:p>
            <a:pPr algn="l"/>
            <a:r>
              <a:rPr sz="1200" b="0">
                <a:solidFill>
                  <a:srgbClr val="5C6370"/>
                </a:solidFill>
                <a:latin typeface="Calibri"/>
              </a:rPr>
              <a:t>BBC News IR</a:t>
            </a:r>
          </a:p>
        </p:txBody>
      </p:sp>
      <p:sp>
        <p:nvSpPr>
          <p:cNvPr id="14" name="Numero de diapositiva"/>
          <p:cNvSpPr txBox="1"/>
          <p:nvPr/>
        </p:nvSpPr>
        <p:spPr>
          <a:xfrm>
            <a:off x="9946386" y="6035040"/>
            <a:ext cx="1696669" cy="365760"/>
          </a:xfrm>
          <a:prstGeom prst="rect">
            <a:avLst/>
          </a:prstGeom>
          <a:noFill/>
        </p:spPr>
        <p:txBody>
          <a:bodyPr wrap="square" tIns="91440" bIns="91440" anchor="t">
            <a:noAutofit/>
          </a:bodyPr>
          <a:lstStyle/>
          <a:p>
            <a:pPr algn="r"/>
            <a:r>
              <a:rPr sz="1200" b="0">
                <a:solidFill>
                  <a:srgbClr val="5C637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itulo"/>
          <p:cNvSpPr txBox="1"/>
          <p:nvPr/>
        </p:nvSpPr>
        <p:spPr>
          <a:xfrm>
            <a:off x="548640" y="457200"/>
            <a:ext cx="11094415" cy="1097280"/>
          </a:xfrm>
          <a:prstGeom prst="rect">
            <a:avLst/>
          </a:prstGeom>
          <a:noFill/>
        </p:spPr>
        <p:txBody>
          <a:bodyPr wrap="square" tIns="91440" bIns="91440" anchor="t">
            <a:noAutofit/>
          </a:bodyPr>
          <a:lstStyle/>
          <a:p>
            <a:pPr algn="l"/>
            <a:r>
              <a:rPr sz="3000" b="1">
                <a:solidFill>
                  <a:srgbClr val="1B1F24"/>
                </a:solidFill>
                <a:latin typeface="Georgia"/>
              </a:rPr>
              <a:t>La consulta se convierte en vector y se compara con cada documento</a:t>
            </a:r>
          </a:p>
        </p:txBody>
      </p:sp>
      <p:sp>
        <p:nvSpPr>
          <p:cNvPr id="3" name="Marcador icono"/>
          <p:cNvSpPr/>
          <p:nvPr/>
        </p:nvSpPr>
        <p:spPr>
          <a:xfrm>
            <a:off x="652242" y="2545080"/>
            <a:ext cx="1645920" cy="1645920"/>
          </a:xfrm>
          <a:prstGeom prst="roundRect">
            <a:avLst>
              <a:gd name="adj" fmla="val 8333"/>
            </a:avLst>
          </a:prstGeom>
          <a:noFill/>
          <a:ln w="22225">
            <a:solidFill>
              <a:srgbClr val="E07A1F"/>
            </a:solidFill>
            <a:prstDash val="dash"/>
          </a:ln>
        </p:spPr>
        <p:txBody>
          <a:bodyPr rtlCol="0" anchor="ctr" wrap="square" tIns="91440" bIns="91440">
            <a:noAutofit/>
          </a:bodyPr>
          <a:lstStyle/>
          <a:p>
            <a:pPr algn="ctr"/>
            <a:r>
              <a:rPr sz="1200" b="0">
                <a:solidFill>
                  <a:srgbClr val="5C6370"/>
                </a:solidFill>
                <a:latin typeface="Calibri"/>
              </a:rPr>
              <a:t>ICONO: teclado</a:t>
            </a:r>
          </a:p>
        </p:txBody>
      </p:sp>
      <p:sp>
        <p:nvSpPr>
          <p:cNvPr id="4" name="Paso 1 etiqueta"/>
          <p:cNvSpPr txBox="1"/>
          <p:nvPr/>
        </p:nvSpPr>
        <p:spPr>
          <a:xfrm>
            <a:off x="548640" y="4328160"/>
            <a:ext cx="1853123" cy="487680"/>
          </a:xfrm>
          <a:prstGeom prst="rect">
            <a:avLst/>
          </a:prstGeom>
          <a:noFill/>
        </p:spPr>
        <p:txBody>
          <a:bodyPr wrap="square" tIns="91440" bIns="91440" anchor="t">
            <a:noAutofit/>
          </a:bodyPr>
          <a:lstStyle/>
          <a:p>
            <a:pPr algn="ctr"/>
            <a:r>
              <a:rPr sz="2000" b="1">
                <a:solidFill>
                  <a:srgbClr val="1B1F24"/>
                </a:solidFill>
                <a:latin typeface="Calibri"/>
              </a:rPr>
              <a:t>Consulta</a:t>
            </a:r>
          </a:p>
        </p:txBody>
      </p:sp>
      <p:sp>
        <p:nvSpPr>
          <p:cNvPr id="5" name="Paso 1 detalle"/>
          <p:cNvSpPr txBox="1"/>
          <p:nvPr/>
        </p:nvSpPr>
        <p:spPr>
          <a:xfrm>
            <a:off x="548640" y="4815840"/>
            <a:ext cx="1853123" cy="365760"/>
          </a:xfrm>
          <a:prstGeom prst="rect">
            <a:avLst/>
          </a:prstGeom>
          <a:noFill/>
        </p:spPr>
        <p:txBody>
          <a:bodyPr wrap="square" tIns="91440" bIns="91440" anchor="t">
            <a:noAutofit/>
          </a:bodyPr>
          <a:lstStyle/>
          <a:p>
            <a:pPr algn="ctr"/>
            <a:r>
              <a:rPr sz="1200" b="0">
                <a:solidFill>
                  <a:srgbClr val="5C6370"/>
                </a:solidFill>
                <a:latin typeface="Calibri"/>
              </a:rPr>
              <a:t>texto libre</a:t>
            </a:r>
          </a:p>
        </p:txBody>
      </p:sp>
      <p:sp>
        <p:nvSpPr>
          <p:cNvPr id="6" name="Flecha"/>
          <p:cNvSpPr/>
          <p:nvPr/>
        </p:nvSpPr>
        <p:spPr>
          <a:xfrm>
            <a:off x="2438339" y="3203448"/>
            <a:ext cx="384048" cy="329184"/>
          </a:xfrm>
          <a:prstGeom prst="rightArrow">
            <a:avLst/>
          </a:prstGeom>
          <a:solidFill>
            <a:srgbClr val="C9CCD1"/>
          </a:solidFill>
          <a:ln>
            <a:noFill/>
          </a:ln>
        </p:spPr>
        <p:txBody>
          <a:bodyPr rtlCol="0" anchor="ctr"/>
          <a:lstStyle/>
          <a:p>
            <a:pPr algn="ctr"/>
          </a:p>
        </p:txBody>
      </p:sp>
      <p:sp>
        <p:nvSpPr>
          <p:cNvPr id="7" name="Marcador icono"/>
          <p:cNvSpPr/>
          <p:nvPr/>
        </p:nvSpPr>
        <p:spPr>
          <a:xfrm>
            <a:off x="2962565" y="2545080"/>
            <a:ext cx="1645920" cy="1645920"/>
          </a:xfrm>
          <a:prstGeom prst="roundRect">
            <a:avLst>
              <a:gd name="adj" fmla="val 8333"/>
            </a:avLst>
          </a:prstGeom>
          <a:noFill/>
          <a:ln w="22225">
            <a:solidFill>
              <a:srgbClr val="E07A1F"/>
            </a:solidFill>
            <a:prstDash val="dash"/>
          </a:ln>
        </p:spPr>
        <p:txBody>
          <a:bodyPr rtlCol="0" anchor="ctr" wrap="square" tIns="91440" bIns="91440">
            <a:noAutofit/>
          </a:bodyPr>
          <a:lstStyle/>
          <a:p>
            <a:pPr algn="ctr"/>
            <a:r>
              <a:rPr sz="1200" b="0">
                <a:solidFill>
                  <a:srgbClr val="5C6370"/>
                </a:solidFill>
                <a:latin typeface="Calibri"/>
              </a:rPr>
              <a:t>ICONO: escoba</a:t>
            </a:r>
          </a:p>
        </p:txBody>
      </p:sp>
      <p:sp>
        <p:nvSpPr>
          <p:cNvPr id="8" name="Paso 2 etiqueta"/>
          <p:cNvSpPr txBox="1"/>
          <p:nvPr/>
        </p:nvSpPr>
        <p:spPr>
          <a:xfrm>
            <a:off x="2858963" y="4328160"/>
            <a:ext cx="1853123" cy="487680"/>
          </a:xfrm>
          <a:prstGeom prst="rect">
            <a:avLst/>
          </a:prstGeom>
          <a:noFill/>
        </p:spPr>
        <p:txBody>
          <a:bodyPr wrap="square" tIns="91440" bIns="91440" anchor="t">
            <a:noAutofit/>
          </a:bodyPr>
          <a:lstStyle/>
          <a:p>
            <a:pPr algn="ctr"/>
            <a:r>
              <a:rPr sz="2000" b="1">
                <a:solidFill>
                  <a:srgbClr val="1B1F24"/>
                </a:solidFill>
                <a:latin typeface="Calibri"/>
              </a:rPr>
              <a:t>Limpieza</a:t>
            </a:r>
          </a:p>
        </p:txBody>
      </p:sp>
      <p:sp>
        <p:nvSpPr>
          <p:cNvPr id="9" name="Paso 2 detalle"/>
          <p:cNvSpPr txBox="1"/>
          <p:nvPr/>
        </p:nvSpPr>
        <p:spPr>
          <a:xfrm>
            <a:off x="2858963" y="4815840"/>
            <a:ext cx="1853123" cy="365760"/>
          </a:xfrm>
          <a:prstGeom prst="rect">
            <a:avLst/>
          </a:prstGeom>
          <a:noFill/>
        </p:spPr>
        <p:txBody>
          <a:bodyPr wrap="square" tIns="91440" bIns="91440" anchor="t">
            <a:noAutofit/>
          </a:bodyPr>
          <a:lstStyle/>
          <a:p>
            <a:pPr algn="ctr"/>
            <a:r>
              <a:rPr sz="1200" b="0">
                <a:solidFill>
                  <a:srgbClr val="5C6370"/>
                </a:solidFill>
                <a:latin typeface="Calibri"/>
              </a:rPr>
              <a:t>igual que el corpus</a:t>
            </a:r>
          </a:p>
        </p:txBody>
      </p:sp>
      <p:sp>
        <p:nvSpPr>
          <p:cNvPr id="10" name="Flecha"/>
          <p:cNvSpPr/>
          <p:nvPr/>
        </p:nvSpPr>
        <p:spPr>
          <a:xfrm>
            <a:off x="4748662" y="3203448"/>
            <a:ext cx="384048" cy="329184"/>
          </a:xfrm>
          <a:prstGeom prst="rightArrow">
            <a:avLst/>
          </a:prstGeom>
          <a:solidFill>
            <a:srgbClr val="C9CCD1"/>
          </a:solidFill>
          <a:ln>
            <a:noFill/>
          </a:ln>
        </p:spPr>
        <p:txBody>
          <a:bodyPr rtlCol="0" anchor="ctr"/>
          <a:lstStyle/>
          <a:p>
            <a:pPr algn="ctr"/>
          </a:p>
        </p:txBody>
      </p:sp>
      <p:sp>
        <p:nvSpPr>
          <p:cNvPr id="11" name="Marcador icono"/>
          <p:cNvSpPr/>
          <p:nvPr/>
        </p:nvSpPr>
        <p:spPr>
          <a:xfrm>
            <a:off x="5272888" y="2545080"/>
            <a:ext cx="1645920" cy="1645920"/>
          </a:xfrm>
          <a:prstGeom prst="roundRect">
            <a:avLst>
              <a:gd name="adj" fmla="val 8333"/>
            </a:avLst>
          </a:prstGeom>
          <a:solidFill>
            <a:srgbClr val="FBE9D7"/>
          </a:solidFill>
          <a:ln w="22225">
            <a:solidFill>
              <a:srgbClr val="E07A1F"/>
            </a:solidFill>
            <a:prstDash val="dash"/>
          </a:ln>
        </p:spPr>
        <p:txBody>
          <a:bodyPr rtlCol="0" anchor="ctr" wrap="square" tIns="91440" bIns="91440">
            <a:noAutofit/>
          </a:bodyPr>
          <a:lstStyle/>
          <a:p>
            <a:pPr algn="ctr"/>
            <a:r>
              <a:rPr sz="1200" b="0">
                <a:solidFill>
                  <a:srgbClr val="5C6370"/>
                </a:solidFill>
                <a:latin typeface="Calibri"/>
              </a:rPr>
              <a:t>ICONO: tabla numérica</a:t>
            </a:r>
          </a:p>
        </p:txBody>
      </p:sp>
      <p:sp>
        <p:nvSpPr>
          <p:cNvPr id="12" name="Paso 3 etiqueta"/>
          <p:cNvSpPr txBox="1"/>
          <p:nvPr/>
        </p:nvSpPr>
        <p:spPr>
          <a:xfrm>
            <a:off x="5169286" y="4328160"/>
            <a:ext cx="1853123" cy="487680"/>
          </a:xfrm>
          <a:prstGeom prst="rect">
            <a:avLst/>
          </a:prstGeom>
          <a:noFill/>
        </p:spPr>
        <p:txBody>
          <a:bodyPr wrap="square" tIns="91440" bIns="91440" anchor="t">
            <a:noAutofit/>
          </a:bodyPr>
          <a:lstStyle/>
          <a:p>
            <a:pPr algn="ctr"/>
            <a:r>
              <a:rPr sz="2000" b="1">
                <a:solidFill>
                  <a:srgbClr val="B05400"/>
                </a:solidFill>
                <a:latin typeface="Calibri"/>
              </a:rPr>
              <a:t>Vectores</a:t>
            </a:r>
          </a:p>
        </p:txBody>
      </p:sp>
      <p:sp>
        <p:nvSpPr>
          <p:cNvPr id="13" name="Paso 3 detalle"/>
          <p:cNvSpPr txBox="1"/>
          <p:nvPr/>
        </p:nvSpPr>
        <p:spPr>
          <a:xfrm>
            <a:off x="5169286" y="4815840"/>
            <a:ext cx="1853123" cy="365760"/>
          </a:xfrm>
          <a:prstGeom prst="rect">
            <a:avLst/>
          </a:prstGeom>
          <a:noFill/>
        </p:spPr>
        <p:txBody>
          <a:bodyPr wrap="square" tIns="91440" bIns="91440" anchor="t">
            <a:noAutofit/>
          </a:bodyPr>
          <a:lstStyle/>
          <a:p>
            <a:pPr algn="ctr"/>
            <a:r>
              <a:rPr sz="1200" b="0">
                <a:solidFill>
                  <a:srgbClr val="5C6370"/>
                </a:solidFill>
                <a:latin typeface="Calibri"/>
              </a:rPr>
              <a:t>según el método</a:t>
            </a:r>
          </a:p>
        </p:txBody>
      </p:sp>
      <p:sp>
        <p:nvSpPr>
          <p:cNvPr id="14" name="Flecha"/>
          <p:cNvSpPr/>
          <p:nvPr/>
        </p:nvSpPr>
        <p:spPr>
          <a:xfrm>
            <a:off x="7058985" y="3203448"/>
            <a:ext cx="384048" cy="329184"/>
          </a:xfrm>
          <a:prstGeom prst="rightArrow">
            <a:avLst/>
          </a:prstGeom>
          <a:solidFill>
            <a:srgbClr val="C9CCD1"/>
          </a:solidFill>
          <a:ln>
            <a:noFill/>
          </a:ln>
        </p:spPr>
        <p:txBody>
          <a:bodyPr rtlCol="0" anchor="ctr"/>
          <a:lstStyle/>
          <a:p>
            <a:pPr algn="ctr"/>
          </a:p>
        </p:txBody>
      </p:sp>
      <p:sp>
        <p:nvSpPr>
          <p:cNvPr id="15" name="Marcador icono"/>
          <p:cNvSpPr/>
          <p:nvPr/>
        </p:nvSpPr>
        <p:spPr>
          <a:xfrm>
            <a:off x="7583211" y="2545080"/>
            <a:ext cx="1645920" cy="1645920"/>
          </a:xfrm>
          <a:prstGeom prst="roundRect">
            <a:avLst>
              <a:gd name="adj" fmla="val 8333"/>
            </a:avLst>
          </a:prstGeom>
          <a:noFill/>
          <a:ln w="22225">
            <a:solidFill>
              <a:srgbClr val="E07A1F"/>
            </a:solidFill>
            <a:prstDash val="dash"/>
          </a:ln>
        </p:spPr>
        <p:txBody>
          <a:bodyPr rtlCol="0" anchor="ctr" wrap="square" tIns="91440" bIns="91440">
            <a:noAutofit/>
          </a:bodyPr>
          <a:lstStyle/>
          <a:p>
            <a:pPr algn="ctr"/>
            <a:r>
              <a:rPr sz="1200" b="0">
                <a:solidFill>
                  <a:srgbClr val="5C6370"/>
                </a:solidFill>
                <a:latin typeface="Calibri"/>
              </a:rPr>
              <a:t>ICONO: ángulo</a:t>
            </a:r>
          </a:p>
        </p:txBody>
      </p:sp>
      <p:sp>
        <p:nvSpPr>
          <p:cNvPr id="16" name="Paso 4 etiqueta"/>
          <p:cNvSpPr txBox="1"/>
          <p:nvPr/>
        </p:nvSpPr>
        <p:spPr>
          <a:xfrm>
            <a:off x="7479609" y="4328160"/>
            <a:ext cx="1853123" cy="487680"/>
          </a:xfrm>
          <a:prstGeom prst="rect">
            <a:avLst/>
          </a:prstGeom>
          <a:noFill/>
        </p:spPr>
        <p:txBody>
          <a:bodyPr wrap="square" tIns="91440" bIns="91440" anchor="t">
            <a:noAutofit/>
          </a:bodyPr>
          <a:lstStyle/>
          <a:p>
            <a:pPr algn="ctr"/>
            <a:r>
              <a:rPr sz="2000" b="1">
                <a:solidFill>
                  <a:srgbClr val="1B1F24"/>
                </a:solidFill>
                <a:latin typeface="Calibri"/>
              </a:rPr>
              <a:t>Similitud</a:t>
            </a:r>
          </a:p>
        </p:txBody>
      </p:sp>
      <p:sp>
        <p:nvSpPr>
          <p:cNvPr id="17" name="Paso 4 detalle"/>
          <p:cNvSpPr txBox="1"/>
          <p:nvPr/>
        </p:nvSpPr>
        <p:spPr>
          <a:xfrm>
            <a:off x="7479609" y="4815840"/>
            <a:ext cx="1853123" cy="365760"/>
          </a:xfrm>
          <a:prstGeom prst="rect">
            <a:avLst/>
          </a:prstGeom>
          <a:noFill/>
        </p:spPr>
        <p:txBody>
          <a:bodyPr wrap="square" tIns="91440" bIns="91440" anchor="t">
            <a:noAutofit/>
          </a:bodyPr>
          <a:lstStyle/>
          <a:p>
            <a:pPr algn="ctr"/>
            <a:r>
              <a:rPr sz="1200" b="0">
                <a:solidFill>
                  <a:srgbClr val="5C6370"/>
                </a:solidFill>
                <a:latin typeface="Calibri"/>
              </a:rPr>
              <a:t>coseno o BM25</a:t>
            </a:r>
          </a:p>
        </p:txBody>
      </p:sp>
      <p:sp>
        <p:nvSpPr>
          <p:cNvPr id="18" name="Flecha"/>
          <p:cNvSpPr/>
          <p:nvPr/>
        </p:nvSpPr>
        <p:spPr>
          <a:xfrm>
            <a:off x="9369308" y="3203448"/>
            <a:ext cx="384048" cy="329184"/>
          </a:xfrm>
          <a:prstGeom prst="rightArrow">
            <a:avLst/>
          </a:prstGeom>
          <a:solidFill>
            <a:srgbClr val="C9CCD1"/>
          </a:solidFill>
          <a:ln>
            <a:noFill/>
          </a:ln>
        </p:spPr>
        <p:txBody>
          <a:bodyPr rtlCol="0" anchor="ctr"/>
          <a:lstStyle/>
          <a:p>
            <a:pPr algn="ctr"/>
          </a:p>
        </p:txBody>
      </p:sp>
      <p:sp>
        <p:nvSpPr>
          <p:cNvPr id="19" name="Marcador icono"/>
          <p:cNvSpPr/>
          <p:nvPr/>
        </p:nvSpPr>
        <p:spPr>
          <a:xfrm>
            <a:off x="9893534" y="2545080"/>
            <a:ext cx="1645920" cy="1645920"/>
          </a:xfrm>
          <a:prstGeom prst="roundRect">
            <a:avLst>
              <a:gd name="adj" fmla="val 8333"/>
            </a:avLst>
          </a:prstGeom>
          <a:noFill/>
          <a:ln w="22225">
            <a:solidFill>
              <a:srgbClr val="E07A1F"/>
            </a:solidFill>
            <a:prstDash val="dash"/>
          </a:ln>
        </p:spPr>
        <p:txBody>
          <a:bodyPr rtlCol="0" anchor="ctr" wrap="square" tIns="91440" bIns="91440">
            <a:noAutofit/>
          </a:bodyPr>
          <a:lstStyle/>
          <a:p>
            <a:pPr algn="ctr"/>
            <a:r>
              <a:rPr sz="1200" b="0">
                <a:solidFill>
                  <a:srgbClr val="5C6370"/>
                </a:solidFill>
                <a:latin typeface="Calibri"/>
              </a:rPr>
              <a:t>ICONO: podio</a:t>
            </a:r>
          </a:p>
        </p:txBody>
      </p:sp>
      <p:sp>
        <p:nvSpPr>
          <p:cNvPr id="20" name="Paso 5 etiqueta"/>
          <p:cNvSpPr txBox="1"/>
          <p:nvPr/>
        </p:nvSpPr>
        <p:spPr>
          <a:xfrm>
            <a:off x="9789932" y="4328160"/>
            <a:ext cx="1853123" cy="487680"/>
          </a:xfrm>
          <a:prstGeom prst="rect">
            <a:avLst/>
          </a:prstGeom>
          <a:noFill/>
        </p:spPr>
        <p:txBody>
          <a:bodyPr wrap="square" tIns="91440" bIns="91440" anchor="t">
            <a:noAutofit/>
          </a:bodyPr>
          <a:lstStyle/>
          <a:p>
            <a:pPr algn="ctr"/>
            <a:r>
              <a:rPr sz="2000" b="1">
                <a:solidFill>
                  <a:srgbClr val="1B1F24"/>
                </a:solidFill>
                <a:latin typeface="Calibri"/>
              </a:rPr>
              <a:t>Ranking</a:t>
            </a:r>
          </a:p>
        </p:txBody>
      </p:sp>
      <p:sp>
        <p:nvSpPr>
          <p:cNvPr id="21" name="Paso 5 detalle"/>
          <p:cNvSpPr txBox="1"/>
          <p:nvPr/>
        </p:nvSpPr>
        <p:spPr>
          <a:xfrm>
            <a:off x="9789932" y="4815840"/>
            <a:ext cx="1853123" cy="365760"/>
          </a:xfrm>
          <a:prstGeom prst="rect">
            <a:avLst/>
          </a:prstGeom>
          <a:noFill/>
        </p:spPr>
        <p:txBody>
          <a:bodyPr wrap="square" tIns="91440" bIns="91440" anchor="t">
            <a:noAutofit/>
          </a:bodyPr>
          <a:lstStyle/>
          <a:p>
            <a:pPr algn="ctr"/>
            <a:r>
              <a:rPr sz="1200" b="0">
                <a:solidFill>
                  <a:srgbClr val="5C6370"/>
                </a:solidFill>
                <a:latin typeface="Calibri"/>
              </a:rPr>
              <a:t>los k más cercanos</a:t>
            </a:r>
          </a:p>
        </p:txBody>
      </p:sp>
      <p:sp>
        <p:nvSpPr>
          <p:cNvPr id="22" name="Pie proyecto"/>
          <p:cNvSpPr txBox="1"/>
          <p:nvPr/>
        </p:nvSpPr>
        <p:spPr>
          <a:xfrm>
            <a:off x="548640" y="6035040"/>
            <a:ext cx="3576218" cy="365760"/>
          </a:xfrm>
          <a:prstGeom prst="rect">
            <a:avLst/>
          </a:prstGeom>
          <a:noFill/>
        </p:spPr>
        <p:txBody>
          <a:bodyPr wrap="square" tIns="91440" bIns="91440" anchor="t">
            <a:noAutofit/>
          </a:bodyPr>
          <a:lstStyle/>
          <a:p>
            <a:pPr algn="l"/>
            <a:r>
              <a:rPr sz="1200" b="0">
                <a:solidFill>
                  <a:srgbClr val="5C6370"/>
                </a:solidFill>
                <a:latin typeface="Calibri"/>
              </a:rPr>
              <a:t>BBC News IR</a:t>
            </a:r>
          </a:p>
        </p:txBody>
      </p:sp>
      <p:sp>
        <p:nvSpPr>
          <p:cNvPr id="23" name="Numero de diapositiva"/>
          <p:cNvSpPr txBox="1"/>
          <p:nvPr/>
        </p:nvSpPr>
        <p:spPr>
          <a:xfrm>
            <a:off x="9946386" y="6035040"/>
            <a:ext cx="1696669" cy="365760"/>
          </a:xfrm>
          <a:prstGeom prst="rect">
            <a:avLst/>
          </a:prstGeom>
          <a:noFill/>
        </p:spPr>
        <p:txBody>
          <a:bodyPr wrap="square" tIns="91440" bIns="91440" anchor="t">
            <a:noAutofit/>
          </a:bodyPr>
          <a:lstStyle/>
          <a:p>
            <a:pPr algn="r"/>
            <a:r>
              <a:rPr sz="1200" b="0">
                <a:solidFill>
                  <a:srgbClr val="5C637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itulo"/>
          <p:cNvSpPr txBox="1"/>
          <p:nvPr/>
        </p:nvSpPr>
        <p:spPr>
          <a:xfrm>
            <a:off x="548640" y="457200"/>
            <a:ext cx="11094415" cy="640080"/>
          </a:xfrm>
          <a:prstGeom prst="rect">
            <a:avLst/>
          </a:prstGeom>
          <a:noFill/>
        </p:spPr>
        <p:txBody>
          <a:bodyPr wrap="square" tIns="91440" bIns="91440" anchor="t">
            <a:noAutofit/>
          </a:bodyPr>
          <a:lstStyle/>
          <a:p>
            <a:pPr algn="l"/>
            <a:r>
              <a:rPr sz="3000" b="1">
                <a:solidFill>
                  <a:srgbClr val="1B1F24"/>
                </a:solidFill>
                <a:latin typeface="Georgia"/>
              </a:rPr>
              <a:t>Cuatro maneras de convertir texto en números</a:t>
            </a:r>
          </a:p>
        </p:txBody>
      </p:sp>
      <p:sp>
        <p:nvSpPr>
          <p:cNvPr id="3" name="Marcador icono"/>
          <p:cNvSpPr/>
          <p:nvPr/>
        </p:nvSpPr>
        <p:spPr>
          <a:xfrm>
            <a:off x="640080" y="1866900"/>
            <a:ext cx="1554480" cy="1554480"/>
          </a:xfrm>
          <a:prstGeom prst="roundRect">
            <a:avLst>
              <a:gd name="adj" fmla="val 8823"/>
            </a:avLst>
          </a:prstGeom>
          <a:noFill/>
          <a:ln w="22225">
            <a:solidFill>
              <a:srgbClr val="E07A1F"/>
            </a:solidFill>
            <a:prstDash val="dash"/>
          </a:ln>
        </p:spPr>
        <p:txBody>
          <a:bodyPr rtlCol="0" anchor="ctr" wrap="square" tIns="91440" bIns="91440">
            <a:noAutofit/>
          </a:bodyPr>
          <a:lstStyle/>
          <a:p>
            <a:pPr algn="ctr"/>
            <a:r>
              <a:rPr sz="1200" b="0">
                <a:solidFill>
                  <a:srgbClr val="5C6370"/>
                </a:solidFill>
                <a:latin typeface="Calibri"/>
              </a:rPr>
              <a:t>ICONO: contador</a:t>
            </a:r>
          </a:p>
        </p:txBody>
      </p:sp>
      <p:sp>
        <p:nvSpPr>
          <p:cNvPr id="4" name="Bloque 1 nombre"/>
          <p:cNvSpPr txBox="1"/>
          <p:nvPr/>
        </p:nvSpPr>
        <p:spPr>
          <a:xfrm>
            <a:off x="548640" y="3512820"/>
            <a:ext cx="2636444" cy="487680"/>
          </a:xfrm>
          <a:prstGeom prst="rect">
            <a:avLst/>
          </a:prstGeom>
          <a:noFill/>
        </p:spPr>
        <p:txBody>
          <a:bodyPr wrap="square" tIns="91440" bIns="91440" anchor="t">
            <a:noAutofit/>
          </a:bodyPr>
          <a:lstStyle/>
          <a:p>
            <a:pPr algn="l"/>
            <a:r>
              <a:rPr sz="2000" b="1">
                <a:solidFill>
                  <a:srgbClr val="1B1F24"/>
                </a:solidFill>
                <a:latin typeface="Calibri"/>
              </a:rPr>
              <a:t>Conteo</a:t>
            </a:r>
          </a:p>
        </p:txBody>
      </p:sp>
      <p:sp>
        <p:nvSpPr>
          <p:cNvPr id="5" name="Bloque 1 frase"/>
          <p:cNvSpPr txBox="1"/>
          <p:nvPr/>
        </p:nvSpPr>
        <p:spPr>
          <a:xfrm>
            <a:off x="548640" y="4000500"/>
            <a:ext cx="2636444" cy="1402080"/>
          </a:xfrm>
          <a:prstGeom prst="rect">
            <a:avLst/>
          </a:prstGeom>
          <a:noFill/>
        </p:spPr>
        <p:txBody>
          <a:bodyPr wrap="square" tIns="91440" bIns="91440" anchor="t">
            <a:noAutofit/>
          </a:bodyPr>
          <a:lstStyle/>
          <a:p>
            <a:pPr algn="l"/>
            <a:r>
              <a:rPr sz="2000" b="0">
                <a:solidFill>
                  <a:srgbClr val="1B1F24"/>
                </a:solidFill>
                <a:latin typeface="Calibri"/>
              </a:rPr>
              <a:t>Cuenta cuántas veces aparece cada palabra.</a:t>
            </a:r>
          </a:p>
        </p:txBody>
      </p:sp>
      <p:sp>
        <p:nvSpPr>
          <p:cNvPr id="6" name="Marcador icono"/>
          <p:cNvSpPr/>
          <p:nvPr/>
        </p:nvSpPr>
        <p:spPr>
          <a:xfrm>
            <a:off x="3459404" y="1866900"/>
            <a:ext cx="1554480" cy="1554480"/>
          </a:xfrm>
          <a:prstGeom prst="roundRect">
            <a:avLst>
              <a:gd name="adj" fmla="val 8823"/>
            </a:avLst>
          </a:prstGeom>
          <a:noFill/>
          <a:ln w="22225">
            <a:solidFill>
              <a:srgbClr val="E07A1F"/>
            </a:solidFill>
            <a:prstDash val="dash"/>
          </a:ln>
        </p:spPr>
        <p:txBody>
          <a:bodyPr rtlCol="0" anchor="ctr" wrap="square" tIns="91440" bIns="91440">
            <a:noAutofit/>
          </a:bodyPr>
          <a:lstStyle/>
          <a:p>
            <a:pPr algn="ctr"/>
            <a:r>
              <a:rPr sz="1200" b="0">
                <a:solidFill>
                  <a:srgbClr val="5C6370"/>
                </a:solidFill>
                <a:latin typeface="Calibri"/>
              </a:rPr>
              <a:t>ICONO: balanza</a:t>
            </a:r>
          </a:p>
        </p:txBody>
      </p:sp>
      <p:sp>
        <p:nvSpPr>
          <p:cNvPr id="7" name="Bloque 2 nombre"/>
          <p:cNvSpPr txBox="1"/>
          <p:nvPr/>
        </p:nvSpPr>
        <p:spPr>
          <a:xfrm>
            <a:off x="3367964" y="3512820"/>
            <a:ext cx="2636444" cy="487680"/>
          </a:xfrm>
          <a:prstGeom prst="rect">
            <a:avLst/>
          </a:prstGeom>
          <a:noFill/>
        </p:spPr>
        <p:txBody>
          <a:bodyPr wrap="square" tIns="91440" bIns="91440" anchor="t">
            <a:noAutofit/>
          </a:bodyPr>
          <a:lstStyle/>
          <a:p>
            <a:pPr algn="l"/>
            <a:r>
              <a:rPr sz="2000" b="1">
                <a:solidFill>
                  <a:srgbClr val="1B1F24"/>
                </a:solidFill>
                <a:latin typeface="Calibri"/>
              </a:rPr>
              <a:t>TF-IDF</a:t>
            </a:r>
          </a:p>
        </p:txBody>
      </p:sp>
      <p:sp>
        <p:nvSpPr>
          <p:cNvPr id="8" name="Bloque 2 frase"/>
          <p:cNvSpPr txBox="1"/>
          <p:nvPr/>
        </p:nvSpPr>
        <p:spPr>
          <a:xfrm>
            <a:off x="3367964" y="4000500"/>
            <a:ext cx="2636444" cy="1402080"/>
          </a:xfrm>
          <a:prstGeom prst="rect">
            <a:avLst/>
          </a:prstGeom>
          <a:noFill/>
        </p:spPr>
        <p:txBody>
          <a:bodyPr wrap="square" tIns="91440" bIns="91440" anchor="t">
            <a:noAutofit/>
          </a:bodyPr>
          <a:lstStyle/>
          <a:p>
            <a:pPr algn="l"/>
            <a:r>
              <a:rPr sz="2000" b="0">
                <a:solidFill>
                  <a:srgbClr val="1B1F24"/>
                </a:solidFill>
                <a:latin typeface="Calibri"/>
              </a:rPr>
              <a:t>Premia las palabras raras y castiga las comunes.</a:t>
            </a:r>
          </a:p>
        </p:txBody>
      </p:sp>
      <p:sp>
        <p:nvSpPr>
          <p:cNvPr id="9" name="Marcador icono"/>
          <p:cNvSpPr/>
          <p:nvPr/>
        </p:nvSpPr>
        <p:spPr>
          <a:xfrm>
            <a:off x="6278728" y="1866900"/>
            <a:ext cx="1554480" cy="1554480"/>
          </a:xfrm>
          <a:prstGeom prst="roundRect">
            <a:avLst>
              <a:gd name="adj" fmla="val 8823"/>
            </a:avLst>
          </a:prstGeom>
          <a:noFill/>
          <a:ln w="22225">
            <a:solidFill>
              <a:srgbClr val="E07A1F"/>
            </a:solidFill>
            <a:prstDash val="dash"/>
          </a:ln>
        </p:spPr>
        <p:txBody>
          <a:bodyPr rtlCol="0" anchor="ctr" wrap="square" tIns="91440" bIns="91440">
            <a:noAutofit/>
          </a:bodyPr>
          <a:lstStyle/>
          <a:p>
            <a:pPr algn="ctr"/>
            <a:r>
              <a:rPr sz="1200" b="0">
                <a:solidFill>
                  <a:srgbClr val="5C6370"/>
                </a:solidFill>
                <a:latin typeface="Calibri"/>
              </a:rPr>
              <a:t>ICONO: curva</a:t>
            </a:r>
          </a:p>
        </p:txBody>
      </p:sp>
      <p:sp>
        <p:nvSpPr>
          <p:cNvPr id="10" name="Bloque 3 nombre"/>
          <p:cNvSpPr txBox="1"/>
          <p:nvPr/>
        </p:nvSpPr>
        <p:spPr>
          <a:xfrm>
            <a:off x="6187288" y="3512820"/>
            <a:ext cx="2636444" cy="487680"/>
          </a:xfrm>
          <a:prstGeom prst="rect">
            <a:avLst/>
          </a:prstGeom>
          <a:noFill/>
        </p:spPr>
        <p:txBody>
          <a:bodyPr wrap="square" tIns="91440" bIns="91440" anchor="t">
            <a:noAutofit/>
          </a:bodyPr>
          <a:lstStyle/>
          <a:p>
            <a:pPr algn="l"/>
            <a:r>
              <a:rPr sz="2000" b="1">
                <a:solidFill>
                  <a:srgbClr val="1B1F24"/>
                </a:solidFill>
                <a:latin typeface="Calibri"/>
              </a:rPr>
              <a:t>BM25</a:t>
            </a:r>
          </a:p>
        </p:txBody>
      </p:sp>
      <p:sp>
        <p:nvSpPr>
          <p:cNvPr id="11" name="Bloque 3 frase"/>
          <p:cNvSpPr txBox="1"/>
          <p:nvPr/>
        </p:nvSpPr>
        <p:spPr>
          <a:xfrm>
            <a:off x="6187288" y="4000500"/>
            <a:ext cx="2636444" cy="1402080"/>
          </a:xfrm>
          <a:prstGeom prst="rect">
            <a:avLst/>
          </a:prstGeom>
          <a:noFill/>
        </p:spPr>
        <p:txBody>
          <a:bodyPr wrap="square" tIns="91440" bIns="91440" anchor="t">
            <a:noAutofit/>
          </a:bodyPr>
          <a:lstStyle/>
          <a:p>
            <a:pPr algn="l"/>
            <a:r>
              <a:rPr sz="2000" b="0">
                <a:solidFill>
                  <a:srgbClr val="1B1F24"/>
                </a:solidFill>
                <a:latin typeface="Calibri"/>
              </a:rPr>
              <a:t>Puntúa con rareza, saturación y longitud del texto.</a:t>
            </a:r>
          </a:p>
        </p:txBody>
      </p:sp>
      <p:sp>
        <p:nvSpPr>
          <p:cNvPr id="12" name="Marcador icono"/>
          <p:cNvSpPr/>
          <p:nvPr/>
        </p:nvSpPr>
        <p:spPr>
          <a:xfrm>
            <a:off x="9098051" y="1866900"/>
            <a:ext cx="1554480" cy="1554480"/>
          </a:xfrm>
          <a:prstGeom prst="roundRect">
            <a:avLst>
              <a:gd name="adj" fmla="val 8823"/>
            </a:avLst>
          </a:prstGeom>
          <a:noFill/>
          <a:ln w="22225">
            <a:solidFill>
              <a:srgbClr val="E07A1F"/>
            </a:solidFill>
            <a:prstDash val="dash"/>
          </a:ln>
        </p:spPr>
        <p:txBody>
          <a:bodyPr rtlCol="0" anchor="ctr" wrap="square" tIns="91440" bIns="91440">
            <a:noAutofit/>
          </a:bodyPr>
          <a:lstStyle/>
          <a:p>
            <a:pPr algn="ctr"/>
            <a:r>
              <a:rPr sz="1200" b="0">
                <a:solidFill>
                  <a:srgbClr val="5C6370"/>
                </a:solidFill>
                <a:latin typeface="Calibri"/>
              </a:rPr>
              <a:t>ICONO: matriz comprimida</a:t>
            </a:r>
          </a:p>
        </p:txBody>
      </p:sp>
      <p:sp>
        <p:nvSpPr>
          <p:cNvPr id="13" name="Bloque 4 nombre"/>
          <p:cNvSpPr txBox="1"/>
          <p:nvPr/>
        </p:nvSpPr>
        <p:spPr>
          <a:xfrm>
            <a:off x="9006611" y="3512820"/>
            <a:ext cx="2636444" cy="487680"/>
          </a:xfrm>
          <a:prstGeom prst="rect">
            <a:avLst/>
          </a:prstGeom>
          <a:noFill/>
        </p:spPr>
        <p:txBody>
          <a:bodyPr wrap="square" tIns="91440" bIns="91440" anchor="t">
            <a:noAutofit/>
          </a:bodyPr>
          <a:lstStyle/>
          <a:p>
            <a:pPr algn="l"/>
            <a:r>
              <a:rPr sz="2000" b="1">
                <a:solidFill>
                  <a:srgbClr val="1B1F24"/>
                </a:solidFill>
                <a:latin typeface="Calibri"/>
              </a:rPr>
              <a:t>SVD</a:t>
            </a:r>
          </a:p>
        </p:txBody>
      </p:sp>
      <p:sp>
        <p:nvSpPr>
          <p:cNvPr id="14" name="Bloque 4 frase"/>
          <p:cNvSpPr txBox="1"/>
          <p:nvPr/>
        </p:nvSpPr>
        <p:spPr>
          <a:xfrm>
            <a:off x="9006611" y="4000500"/>
            <a:ext cx="2636444" cy="1402080"/>
          </a:xfrm>
          <a:prstGeom prst="rect">
            <a:avLst/>
          </a:prstGeom>
          <a:noFill/>
        </p:spPr>
        <p:txBody>
          <a:bodyPr wrap="square" tIns="91440" bIns="91440" anchor="t">
            <a:noAutofit/>
          </a:bodyPr>
          <a:lstStyle/>
          <a:p>
            <a:pPr algn="l"/>
            <a:r>
              <a:rPr sz="2000" b="0">
                <a:solidFill>
                  <a:srgbClr val="1B1F24"/>
                </a:solidFill>
                <a:latin typeface="Calibri"/>
              </a:rPr>
              <a:t>Comprime el vocabulario en 200 dimensiones latentes.</a:t>
            </a:r>
          </a:p>
        </p:txBody>
      </p:sp>
      <p:sp>
        <p:nvSpPr>
          <p:cNvPr id="15" name="Pie proyecto"/>
          <p:cNvSpPr txBox="1"/>
          <p:nvPr/>
        </p:nvSpPr>
        <p:spPr>
          <a:xfrm>
            <a:off x="548640" y="6035040"/>
            <a:ext cx="3576218" cy="365760"/>
          </a:xfrm>
          <a:prstGeom prst="rect">
            <a:avLst/>
          </a:prstGeom>
          <a:noFill/>
        </p:spPr>
        <p:txBody>
          <a:bodyPr wrap="square" tIns="91440" bIns="91440" anchor="t">
            <a:noAutofit/>
          </a:bodyPr>
          <a:lstStyle/>
          <a:p>
            <a:pPr algn="l"/>
            <a:r>
              <a:rPr sz="1200" b="0">
                <a:solidFill>
                  <a:srgbClr val="5C6370"/>
                </a:solidFill>
                <a:latin typeface="Calibri"/>
              </a:rPr>
              <a:t>BBC News IR</a:t>
            </a:r>
          </a:p>
        </p:txBody>
      </p:sp>
      <p:sp>
        <p:nvSpPr>
          <p:cNvPr id="16" name="Numero de diapositiva"/>
          <p:cNvSpPr txBox="1"/>
          <p:nvPr/>
        </p:nvSpPr>
        <p:spPr>
          <a:xfrm>
            <a:off x="9946386" y="6035040"/>
            <a:ext cx="1696669" cy="365760"/>
          </a:xfrm>
          <a:prstGeom prst="rect">
            <a:avLst/>
          </a:prstGeom>
          <a:noFill/>
        </p:spPr>
        <p:txBody>
          <a:bodyPr wrap="square" tIns="91440" bIns="91440" anchor="t">
            <a:noAutofit/>
          </a:bodyPr>
          <a:lstStyle/>
          <a:p>
            <a:pPr algn="r"/>
            <a:r>
              <a:rPr sz="1200" b="0">
                <a:solidFill>
                  <a:srgbClr val="5C637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itulo"/>
          <p:cNvSpPr txBox="1"/>
          <p:nvPr/>
        </p:nvSpPr>
        <p:spPr>
          <a:xfrm>
            <a:off x="548640" y="457200"/>
            <a:ext cx="11094415" cy="1097280"/>
          </a:xfrm>
          <a:prstGeom prst="rect">
            <a:avLst/>
          </a:prstGeom>
          <a:noFill/>
        </p:spPr>
        <p:txBody>
          <a:bodyPr wrap="square" tIns="91440" bIns="91440" anchor="t">
            <a:noAutofit/>
          </a:bodyPr>
          <a:lstStyle/>
          <a:p>
            <a:pPr algn="l"/>
            <a:r>
              <a:rPr sz="3000" b="1">
                <a:solidFill>
                  <a:srgbClr val="1B1F24"/>
                </a:solidFill>
                <a:latin typeface="Georgia"/>
              </a:rPr>
              <a:t>Word2Vec lidera con 88.17% de MAP@10; SVD le sigue con 84.28% y los métodos léxicos quedan atrás.</a:t>
            </a:r>
          </a:p>
        </p:txBody>
      </p:sp>
      <p:sp>
        <p:nvSpPr>
          <p:cNvPr id="3" name="Cifra grande"/>
          <p:cNvSpPr txBox="1"/>
          <p:nvPr/>
        </p:nvSpPr>
        <p:spPr>
          <a:xfrm>
            <a:off x="548640" y="2750820"/>
            <a:ext cx="5455768" cy="1859280"/>
          </a:xfrm>
          <a:prstGeom prst="rect">
            <a:avLst/>
          </a:prstGeom>
          <a:noFill/>
        </p:spPr>
        <p:txBody>
          <a:bodyPr wrap="square" tIns="91440" bIns="91440" anchor="ctr">
            <a:noAutofit/>
          </a:bodyPr>
          <a:lstStyle/>
          <a:p>
            <a:pPr algn="l"/>
            <a:r>
              <a:rPr sz="11000" b="1">
                <a:solidFill>
                  <a:srgbClr val="B05400"/>
                </a:solidFill>
                <a:latin typeface="Georgia"/>
              </a:rPr>
              <a:t>88.17%</a:t>
            </a:r>
          </a:p>
        </p:txBody>
      </p:sp>
      <p:sp>
        <p:nvSpPr>
          <p:cNvPr id="4" name="Etiqueta de la cifra"/>
          <p:cNvSpPr txBox="1"/>
          <p:nvPr/>
        </p:nvSpPr>
        <p:spPr>
          <a:xfrm>
            <a:off x="548640" y="4610100"/>
            <a:ext cx="5455768" cy="365760"/>
          </a:xfrm>
          <a:prstGeom prst="rect">
            <a:avLst/>
          </a:prstGeom>
          <a:noFill/>
        </p:spPr>
        <p:txBody>
          <a:bodyPr wrap="square" tIns="91440" bIns="91440" anchor="t">
            <a:noAutofit/>
          </a:bodyPr>
          <a:lstStyle/>
          <a:p>
            <a:pPr algn="l"/>
            <a:r>
              <a:rPr sz="1200" b="0">
                <a:solidFill>
                  <a:srgbClr val="5C6370"/>
                </a:solidFill>
                <a:latin typeface="Calibri"/>
              </a:rPr>
              <a:t>MAP@10 de Word2Vec</a:t>
            </a:r>
          </a:p>
        </p:txBody>
      </p:sp>
      <p:sp>
        <p:nvSpPr>
          <p:cNvPr id="5" name="Frase de apoyo"/>
          <p:cNvSpPr txBox="1"/>
          <p:nvPr/>
        </p:nvSpPr>
        <p:spPr>
          <a:xfrm>
            <a:off x="6187288" y="3314700"/>
            <a:ext cx="5455768" cy="1097280"/>
          </a:xfrm>
          <a:prstGeom prst="rect">
            <a:avLst/>
          </a:prstGeom>
          <a:noFill/>
        </p:spPr>
        <p:txBody>
          <a:bodyPr wrap="square" tIns="91440" bIns="91440" anchor="ctr">
            <a:noAutofit/>
          </a:bodyPr>
          <a:lstStyle/>
          <a:p>
            <a:pPr algn="l"/>
            <a:r>
              <a:rPr sz="2000" b="0">
                <a:solidFill>
                  <a:srgbClr val="1B1F24"/>
                </a:solidFill>
                <a:latin typeface="Calibri"/>
              </a:rPr>
              <a:t>Word2Vec promedia los vectores de sus palabras (100 dimensiones). Sobre SVD su ventaja no es concluyente.</a:t>
            </a:r>
          </a:p>
        </p:txBody>
      </p:sp>
      <p:sp>
        <p:nvSpPr>
          <p:cNvPr id="6" name="Pie proyecto"/>
          <p:cNvSpPr txBox="1"/>
          <p:nvPr/>
        </p:nvSpPr>
        <p:spPr>
          <a:xfrm>
            <a:off x="548640" y="6035040"/>
            <a:ext cx="3576218" cy="365760"/>
          </a:xfrm>
          <a:prstGeom prst="rect">
            <a:avLst/>
          </a:prstGeom>
          <a:noFill/>
        </p:spPr>
        <p:txBody>
          <a:bodyPr wrap="square" tIns="91440" bIns="91440" anchor="t">
            <a:noAutofit/>
          </a:bodyPr>
          <a:lstStyle/>
          <a:p>
            <a:pPr algn="l"/>
            <a:r>
              <a:rPr sz="1200" b="0">
                <a:solidFill>
                  <a:srgbClr val="5C6370"/>
                </a:solidFill>
                <a:latin typeface="Calibri"/>
              </a:rPr>
              <a:t>BBC News IR</a:t>
            </a:r>
          </a:p>
        </p:txBody>
      </p:sp>
      <p:sp>
        <p:nvSpPr>
          <p:cNvPr id="7" name="Numero de diapositiva"/>
          <p:cNvSpPr txBox="1"/>
          <p:nvPr/>
        </p:nvSpPr>
        <p:spPr>
          <a:xfrm>
            <a:off x="9946386" y="6035040"/>
            <a:ext cx="1696669" cy="365760"/>
          </a:xfrm>
          <a:prstGeom prst="rect">
            <a:avLst/>
          </a:prstGeom>
          <a:noFill/>
        </p:spPr>
        <p:txBody>
          <a:bodyPr wrap="square" tIns="91440" bIns="91440" anchor="t">
            <a:noAutofit/>
          </a:bodyPr>
          <a:lstStyle/>
          <a:p>
            <a:pPr algn="r"/>
            <a:r>
              <a:rPr sz="1200" b="0">
                <a:solidFill>
                  <a:srgbClr val="5C637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itulo"/>
          <p:cNvSpPr txBox="1"/>
          <p:nvPr/>
        </p:nvSpPr>
        <p:spPr>
          <a:xfrm>
            <a:off x="548640" y="457200"/>
            <a:ext cx="11094415" cy="1097280"/>
          </a:xfrm>
          <a:prstGeom prst="rect">
            <a:avLst/>
          </a:prstGeom>
          <a:noFill/>
        </p:spPr>
        <p:txBody>
          <a:bodyPr wrap="square" tIns="91440" bIns="91440" anchor="t">
            <a:noAutofit/>
          </a:bodyPr>
          <a:lstStyle/>
          <a:p>
            <a:pPr algn="l"/>
            <a:r>
              <a:rPr sz="3000" b="1">
                <a:solidFill>
                  <a:srgbClr val="1B1F24"/>
                </a:solidFill>
                <a:latin typeface="Georgia"/>
              </a:rPr>
              <a:t>BM25 (74.22%) y TF-IDF (72.73%) rinden casi igual; solo BM25 supera con claridad al conteo (68.70%).</a:t>
            </a:r>
          </a:p>
        </p:txBody>
      </p:sp>
      <p:pic>
        <p:nvPicPr>
          <p:cNvPr id="3" name="Imagen map_metodos" descr="MAP@10 por método: Word2Vec 88.17%, SVD 84.28%, LDA 74.56%, BM25 74.22% resaltado, TF-IDF 72.73%, Conteo 68.70%"/>
          <p:cNvPicPr>
            <a:picLocks noChangeAspect="1"/>
          </p:cNvPicPr>
          <p:nvPr/>
        </p:nvPicPr>
        <p:blipFill>
          <a:blip r:embed="rId2"/>
          <a:stretch>
            <a:fillRect/>
          </a:stretch>
        </p:blipFill>
        <p:spPr>
          <a:xfrm>
            <a:off x="548640" y="1783080"/>
            <a:ext cx="7335317" cy="3667658"/>
          </a:xfrm>
          <a:prstGeom prst="rect">
            <a:avLst/>
          </a:prstGeom>
        </p:spPr>
      </p:pic>
      <p:sp>
        <p:nvSpPr>
          <p:cNvPr id="4" name="Mensaje clave"/>
          <p:cNvSpPr txBox="1"/>
          <p:nvPr/>
        </p:nvSpPr>
        <p:spPr>
          <a:xfrm>
            <a:off x="8066837" y="1783080"/>
            <a:ext cx="3576218" cy="1402080"/>
          </a:xfrm>
          <a:prstGeom prst="rect">
            <a:avLst/>
          </a:prstGeom>
          <a:noFill/>
        </p:spPr>
        <p:txBody>
          <a:bodyPr wrap="square" tIns="91440" bIns="91440" anchor="t">
            <a:noAutofit/>
          </a:bodyPr>
          <a:lstStyle/>
          <a:p>
            <a:pPr algn="l"/>
            <a:r>
              <a:rPr sz="2000" b="0">
                <a:solidFill>
                  <a:srgbClr val="1B1F24"/>
                </a:solidFill>
                <a:latin typeface="Calibri"/>
              </a:rPr>
              <a:t>BM25 supera a TF-IDF por 1.49 puntos, pero el IC 95% [-0.15, 3.21] incluye 0: en la práctica empatan.</a:t>
            </a:r>
          </a:p>
        </p:txBody>
      </p:sp>
      <p:sp>
        <p:nvSpPr>
          <p:cNvPr id="5" name="Pie de fuente"/>
          <p:cNvSpPr txBox="1"/>
          <p:nvPr/>
        </p:nvSpPr>
        <p:spPr>
          <a:xfrm>
            <a:off x="8066837" y="5394960"/>
            <a:ext cx="3576218" cy="548640"/>
          </a:xfrm>
          <a:prstGeom prst="rect">
            <a:avLst/>
          </a:prstGeom>
          <a:noFill/>
        </p:spPr>
        <p:txBody>
          <a:bodyPr wrap="square" tIns="91440" bIns="91440" anchor="b">
            <a:noAutofit/>
          </a:bodyPr>
          <a:lstStyle/>
          <a:p>
            <a:pPr algn="l"/>
            <a:r>
              <a:rPr sz="1200" b="0">
                <a:solidFill>
                  <a:srgbClr val="5C6370"/>
                </a:solidFill>
                <a:latin typeface="Calibri"/>
              </a:rPr>
              <a:t>Relevante: misma categoría que la consulta. Fuente: reports/metricas.csv</a:t>
            </a:r>
          </a:p>
        </p:txBody>
      </p:sp>
      <p:sp>
        <p:nvSpPr>
          <p:cNvPr id="6" name="Pie proyecto"/>
          <p:cNvSpPr txBox="1"/>
          <p:nvPr/>
        </p:nvSpPr>
        <p:spPr>
          <a:xfrm>
            <a:off x="548640" y="6035040"/>
            <a:ext cx="3576218" cy="365760"/>
          </a:xfrm>
          <a:prstGeom prst="rect">
            <a:avLst/>
          </a:prstGeom>
          <a:noFill/>
        </p:spPr>
        <p:txBody>
          <a:bodyPr wrap="square" tIns="91440" bIns="91440" anchor="t">
            <a:noAutofit/>
          </a:bodyPr>
          <a:lstStyle/>
          <a:p>
            <a:pPr algn="l"/>
            <a:r>
              <a:rPr sz="1200" b="0">
                <a:solidFill>
                  <a:srgbClr val="5C6370"/>
                </a:solidFill>
                <a:latin typeface="Calibri"/>
              </a:rPr>
              <a:t>BBC News IR</a:t>
            </a:r>
          </a:p>
        </p:txBody>
      </p:sp>
      <p:sp>
        <p:nvSpPr>
          <p:cNvPr id="7" name="Numero de diapositiva"/>
          <p:cNvSpPr txBox="1"/>
          <p:nvPr/>
        </p:nvSpPr>
        <p:spPr>
          <a:xfrm>
            <a:off x="9946386" y="6035040"/>
            <a:ext cx="1696669" cy="365760"/>
          </a:xfrm>
          <a:prstGeom prst="rect">
            <a:avLst/>
          </a:prstGeom>
          <a:noFill/>
        </p:spPr>
        <p:txBody>
          <a:bodyPr wrap="square" tIns="91440" bIns="91440" anchor="t">
            <a:noAutofit/>
          </a:bodyPr>
          <a:lstStyle/>
          <a:p>
            <a:pPr algn="r"/>
            <a:r>
              <a:rPr sz="1200" b="0">
                <a:solidFill>
                  <a:srgbClr val="5C637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itulo"/>
          <p:cNvSpPr txBox="1"/>
          <p:nvPr/>
        </p:nvSpPr>
        <p:spPr>
          <a:xfrm>
            <a:off x="548640" y="457200"/>
            <a:ext cx="11094415" cy="1554480"/>
          </a:xfrm>
          <a:prstGeom prst="rect">
            <a:avLst/>
          </a:prstGeom>
          <a:noFill/>
        </p:spPr>
        <p:txBody>
          <a:bodyPr wrap="square" tIns="91440" bIns="91440" anchor="t">
            <a:noAutofit/>
          </a:bodyPr>
          <a:lstStyle/>
          <a:p>
            <a:pPr algn="l"/>
            <a:r>
              <a:rPr sz="3000" b="1">
                <a:solidFill>
                  <a:srgbClr val="1B1F24"/>
                </a:solidFill>
                <a:latin typeface="Georgia"/>
              </a:rPr>
              <a:t>Con consultas manuales cortas casi todos aciertan; con titulares de 8 palabras Word2Vec logra 86.39% y conteo 64.96%.</a:t>
            </a:r>
          </a:p>
        </p:txBody>
      </p:sp>
      <p:pic>
        <p:nvPicPr>
          <p:cNvPr id="3" name="Imagen mancuernas_tipo_consulta" descr="MAP@10 por método y tipo de consulta: los puntos de consultas manuales quedan cerca de 100% y los de titulares de 8 palabras se dispersan"/>
          <p:cNvPicPr>
            <a:picLocks noChangeAspect="1"/>
          </p:cNvPicPr>
          <p:nvPr/>
        </p:nvPicPr>
        <p:blipFill>
          <a:blip r:embed="rId2"/>
          <a:stretch>
            <a:fillRect/>
          </a:stretch>
        </p:blipFill>
        <p:spPr>
          <a:xfrm>
            <a:off x="548640" y="2240280"/>
            <a:ext cx="11094415" cy="3209128"/>
          </a:xfrm>
          <a:prstGeom prst="rect">
            <a:avLst/>
          </a:prstGeom>
        </p:spPr>
      </p:pic>
      <p:sp>
        <p:nvSpPr>
          <p:cNvPr id="4" name="Pie de fuente"/>
          <p:cNvSpPr txBox="1"/>
          <p:nvPr/>
        </p:nvSpPr>
        <p:spPr>
          <a:xfrm>
            <a:off x="548640" y="5577840"/>
            <a:ext cx="11094415" cy="365760"/>
          </a:xfrm>
          <a:prstGeom prst="rect">
            <a:avLst/>
          </a:prstGeom>
          <a:noFill/>
        </p:spPr>
        <p:txBody>
          <a:bodyPr wrap="square" tIns="91440" bIns="91440" anchor="t">
            <a:noAutofit/>
          </a:bodyPr>
          <a:lstStyle/>
          <a:p>
            <a:pPr algn="l"/>
            <a:r>
              <a:rPr sz="1200" b="0">
                <a:solidFill>
                  <a:srgbClr val="5C6370"/>
                </a:solidFill>
                <a:latin typeface="Calibri"/>
              </a:rPr>
              <a:t>MAP@10 por tipo de consulta (15 manuales, 100 automáticas). Relevante: misma categoría que la consulta.</a:t>
            </a:r>
          </a:p>
        </p:txBody>
      </p:sp>
      <p:sp>
        <p:nvSpPr>
          <p:cNvPr id="5" name="Pie proyecto"/>
          <p:cNvSpPr txBox="1"/>
          <p:nvPr/>
        </p:nvSpPr>
        <p:spPr>
          <a:xfrm>
            <a:off x="548640" y="6035040"/>
            <a:ext cx="3576218" cy="365760"/>
          </a:xfrm>
          <a:prstGeom prst="rect">
            <a:avLst/>
          </a:prstGeom>
          <a:noFill/>
        </p:spPr>
        <p:txBody>
          <a:bodyPr wrap="square" tIns="91440" bIns="91440" anchor="t">
            <a:noAutofit/>
          </a:bodyPr>
          <a:lstStyle/>
          <a:p>
            <a:pPr algn="l"/>
            <a:r>
              <a:rPr sz="1200" b="0">
                <a:solidFill>
                  <a:srgbClr val="5C6370"/>
                </a:solidFill>
                <a:latin typeface="Calibri"/>
              </a:rPr>
              <a:t>BBC News IR</a:t>
            </a:r>
          </a:p>
        </p:txBody>
      </p:sp>
      <p:sp>
        <p:nvSpPr>
          <p:cNvPr id="6" name="Numero de diapositiva"/>
          <p:cNvSpPr txBox="1"/>
          <p:nvPr/>
        </p:nvSpPr>
        <p:spPr>
          <a:xfrm>
            <a:off x="9946386" y="6035040"/>
            <a:ext cx="1696669" cy="365760"/>
          </a:xfrm>
          <a:prstGeom prst="rect">
            <a:avLst/>
          </a:prstGeom>
          <a:noFill/>
        </p:spPr>
        <p:txBody>
          <a:bodyPr wrap="square" tIns="91440" bIns="91440" anchor="t">
            <a:noAutofit/>
          </a:bodyPr>
          <a:lstStyle/>
          <a:p>
            <a:pPr algn="r"/>
            <a:r>
              <a:rPr sz="1200" b="0">
                <a:solidFill>
                  <a:srgbClr val="5C637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itulo"/>
          <p:cNvSpPr txBox="1"/>
          <p:nvPr/>
        </p:nvSpPr>
        <p:spPr>
          <a:xfrm>
            <a:off x="548640" y="457200"/>
            <a:ext cx="11094415" cy="1097280"/>
          </a:xfrm>
          <a:prstGeom prst="rect">
            <a:avLst/>
          </a:prstGeom>
          <a:noFill/>
        </p:spPr>
        <p:txBody>
          <a:bodyPr wrap="square" tIns="91440" bIns="91440" anchor="t">
            <a:noAutofit/>
          </a:bodyPr>
          <a:lstStyle/>
          <a:p>
            <a:pPr algn="l"/>
            <a:r>
              <a:rPr sz="3000" b="1">
                <a:solidFill>
                  <a:srgbClr val="1B1F24"/>
                </a:solidFill>
                <a:latin typeface="Georgia"/>
              </a:rPr>
              <a:t>Word2Vec responde a una consulta temática con tres noticias de política</a:t>
            </a:r>
          </a:p>
        </p:txBody>
      </p:sp>
      <p:sp>
        <p:nvSpPr>
          <p:cNvPr id="3" name="Barra de busqueda"/>
          <p:cNvSpPr/>
          <p:nvPr/>
        </p:nvSpPr>
        <p:spPr>
          <a:xfrm>
            <a:off x="640080" y="1783080"/>
            <a:ext cx="10911535" cy="640080"/>
          </a:xfrm>
          <a:prstGeom prst="roundRect">
            <a:avLst>
              <a:gd name="adj" fmla="val 50000"/>
            </a:avLst>
          </a:prstGeom>
          <a:solidFill>
            <a:srgbClr val="FFFFFF"/>
          </a:solidFill>
          <a:ln w="19050">
            <a:solidFill>
              <a:srgbClr val="5C6370"/>
            </a:solidFill>
          </a:ln>
        </p:spPr>
        <p:txBody>
          <a:bodyPr rtlCol="0" anchor="ctr"/>
          <a:lstStyle/>
          <a:p>
            <a:pPr algn="ctr"/>
          </a:p>
        </p:txBody>
      </p:sp>
      <p:sp>
        <p:nvSpPr>
          <p:cNvPr id="4" name="Consulta"/>
          <p:cNvSpPr txBox="1"/>
          <p:nvPr/>
        </p:nvSpPr>
        <p:spPr>
          <a:xfrm>
            <a:off x="914400" y="1783080"/>
            <a:ext cx="10362895" cy="640080"/>
          </a:xfrm>
          <a:prstGeom prst="rect">
            <a:avLst/>
          </a:prstGeom>
          <a:noFill/>
        </p:spPr>
        <p:txBody>
          <a:bodyPr wrap="square" tIns="91440" bIns="91440" anchor="ctr">
            <a:noAutofit/>
          </a:bodyPr>
          <a:lstStyle/>
          <a:p>
            <a:pPr algn="l"/>
            <a:r>
              <a:rPr sz="2200" b="0">
                <a:solidFill>
                  <a:srgbClr val="1B1F24"/>
                </a:solidFill>
                <a:latin typeface="Calibri"/>
              </a:rPr>
              <a:t>election labour party vote</a:t>
            </a:r>
          </a:p>
        </p:txBody>
      </p:sp>
      <p:sp>
        <p:nvSpPr>
          <p:cNvPr id="5" name="Tarjeta 1"/>
          <p:cNvSpPr/>
          <p:nvPr/>
        </p:nvSpPr>
        <p:spPr>
          <a:xfrm>
            <a:off x="640080" y="2651760"/>
            <a:ext cx="10911535" cy="960120"/>
          </a:xfrm>
          <a:prstGeom prst="roundRect">
            <a:avLst>
              <a:gd name="adj" fmla="val 11428"/>
            </a:avLst>
          </a:prstGeom>
          <a:solidFill>
            <a:srgbClr val="FFFFFF"/>
          </a:solidFill>
          <a:ln w="12700">
            <a:solidFill>
              <a:srgbClr val="C9CCD1"/>
            </a:solidFill>
          </a:ln>
        </p:spPr>
        <p:txBody>
          <a:bodyPr rtlCol="0" anchor="ctr"/>
          <a:lstStyle/>
          <a:p>
            <a:pPr algn="ctr"/>
          </a:p>
        </p:txBody>
      </p:sp>
      <p:sp>
        <p:nvSpPr>
          <p:cNvPr id="6" name="Rango 1"/>
          <p:cNvSpPr txBox="1"/>
          <p:nvPr/>
        </p:nvSpPr>
        <p:spPr>
          <a:xfrm>
            <a:off x="640080" y="2651760"/>
            <a:ext cx="756895" cy="960120"/>
          </a:xfrm>
          <a:prstGeom prst="rect">
            <a:avLst/>
          </a:prstGeom>
          <a:noFill/>
        </p:spPr>
        <p:txBody>
          <a:bodyPr wrap="square" tIns="91440" bIns="91440" anchor="ctr">
            <a:noAutofit/>
          </a:bodyPr>
          <a:lstStyle/>
          <a:p>
            <a:pPr algn="ctr"/>
            <a:r>
              <a:rPr sz="3000" b="1">
                <a:solidFill>
                  <a:srgbClr val="B05400"/>
                </a:solidFill>
                <a:latin typeface="Georgia"/>
              </a:rPr>
              <a:t>1</a:t>
            </a:r>
          </a:p>
        </p:txBody>
      </p:sp>
      <p:sp>
        <p:nvSpPr>
          <p:cNvPr id="7" name="Color categoria 1"/>
          <p:cNvSpPr/>
          <p:nvPr/>
        </p:nvSpPr>
        <p:spPr>
          <a:xfrm>
            <a:off x="1671295" y="2798064"/>
            <a:ext cx="164592" cy="164592"/>
          </a:xfrm>
          <a:prstGeom prst="rect">
            <a:avLst/>
          </a:prstGeom>
          <a:solidFill>
            <a:srgbClr val="2A9D8F"/>
          </a:solidFill>
          <a:ln>
            <a:noFill/>
          </a:ln>
        </p:spPr>
        <p:txBody>
          <a:bodyPr rtlCol="0" anchor="ctr"/>
          <a:lstStyle/>
          <a:p>
            <a:pPr algn="ctr"/>
          </a:p>
        </p:txBody>
      </p:sp>
      <p:sp>
        <p:nvSpPr>
          <p:cNvPr id="8" name="Categoria 1"/>
          <p:cNvSpPr txBox="1"/>
          <p:nvPr/>
        </p:nvSpPr>
        <p:spPr>
          <a:xfrm>
            <a:off x="1854175" y="2697480"/>
            <a:ext cx="9788881" cy="365760"/>
          </a:xfrm>
          <a:prstGeom prst="rect">
            <a:avLst/>
          </a:prstGeom>
          <a:noFill/>
        </p:spPr>
        <p:txBody>
          <a:bodyPr wrap="square" tIns="91440" bIns="91440" anchor="ctr">
            <a:noAutofit/>
          </a:bodyPr>
          <a:lstStyle/>
          <a:p>
            <a:pPr algn="l"/>
            <a:r>
              <a:rPr sz="1200" b="0">
                <a:solidFill>
                  <a:srgbClr val="5C6370"/>
                </a:solidFill>
                <a:latin typeface="Calibri"/>
              </a:rPr>
              <a:t>Política</a:t>
            </a:r>
          </a:p>
        </p:txBody>
      </p:sp>
      <p:sp>
        <p:nvSpPr>
          <p:cNvPr id="9" name="Titulo resultado 1"/>
          <p:cNvSpPr txBox="1"/>
          <p:nvPr/>
        </p:nvSpPr>
        <p:spPr>
          <a:xfrm>
            <a:off x="1579855" y="3063240"/>
            <a:ext cx="9971761" cy="502920"/>
          </a:xfrm>
          <a:prstGeom prst="rect">
            <a:avLst/>
          </a:prstGeom>
          <a:noFill/>
        </p:spPr>
        <p:txBody>
          <a:bodyPr wrap="square" tIns="91440" bIns="91440" anchor="t">
            <a:noAutofit/>
          </a:bodyPr>
          <a:lstStyle/>
          <a:p>
            <a:pPr algn="l"/>
            <a:r>
              <a:rPr sz="2000" b="0">
                <a:solidFill>
                  <a:srgbClr val="1B1F24"/>
                </a:solidFill>
                <a:latin typeface="Calibri"/>
              </a:rPr>
              <a:t>ukip outspent labour on eu poll the uk</a:t>
            </a:r>
          </a:p>
        </p:txBody>
      </p:sp>
      <p:sp>
        <p:nvSpPr>
          <p:cNvPr id="10" name="Tarjeta 2"/>
          <p:cNvSpPr/>
          <p:nvPr/>
        </p:nvSpPr>
        <p:spPr>
          <a:xfrm>
            <a:off x="640080" y="3749040"/>
            <a:ext cx="10911535" cy="960120"/>
          </a:xfrm>
          <a:prstGeom prst="roundRect">
            <a:avLst>
              <a:gd name="adj" fmla="val 11428"/>
            </a:avLst>
          </a:prstGeom>
          <a:solidFill>
            <a:srgbClr val="FFFFFF"/>
          </a:solidFill>
          <a:ln w="12700">
            <a:solidFill>
              <a:srgbClr val="C9CCD1"/>
            </a:solidFill>
          </a:ln>
        </p:spPr>
        <p:txBody>
          <a:bodyPr rtlCol="0" anchor="ctr"/>
          <a:lstStyle/>
          <a:p>
            <a:pPr algn="ctr"/>
          </a:p>
        </p:txBody>
      </p:sp>
      <p:sp>
        <p:nvSpPr>
          <p:cNvPr id="11" name="Rango 2"/>
          <p:cNvSpPr txBox="1"/>
          <p:nvPr/>
        </p:nvSpPr>
        <p:spPr>
          <a:xfrm>
            <a:off x="640080" y="3749040"/>
            <a:ext cx="756895" cy="960120"/>
          </a:xfrm>
          <a:prstGeom prst="rect">
            <a:avLst/>
          </a:prstGeom>
          <a:noFill/>
        </p:spPr>
        <p:txBody>
          <a:bodyPr wrap="square" tIns="91440" bIns="91440" anchor="ctr">
            <a:noAutofit/>
          </a:bodyPr>
          <a:lstStyle/>
          <a:p>
            <a:pPr algn="ctr"/>
            <a:r>
              <a:rPr sz="3000" b="1">
                <a:solidFill>
                  <a:srgbClr val="5C6370"/>
                </a:solidFill>
                <a:latin typeface="Georgia"/>
              </a:rPr>
              <a:t>2</a:t>
            </a:r>
          </a:p>
        </p:txBody>
      </p:sp>
      <p:sp>
        <p:nvSpPr>
          <p:cNvPr id="12" name="Color categoria 2"/>
          <p:cNvSpPr/>
          <p:nvPr/>
        </p:nvSpPr>
        <p:spPr>
          <a:xfrm>
            <a:off x="1671295" y="3895344"/>
            <a:ext cx="164592" cy="164592"/>
          </a:xfrm>
          <a:prstGeom prst="rect">
            <a:avLst/>
          </a:prstGeom>
          <a:solidFill>
            <a:srgbClr val="2A9D8F"/>
          </a:solidFill>
          <a:ln>
            <a:noFill/>
          </a:ln>
        </p:spPr>
        <p:txBody>
          <a:bodyPr rtlCol="0" anchor="ctr"/>
          <a:lstStyle/>
          <a:p>
            <a:pPr algn="ctr"/>
          </a:p>
        </p:txBody>
      </p:sp>
      <p:sp>
        <p:nvSpPr>
          <p:cNvPr id="13" name="Categoria 2"/>
          <p:cNvSpPr txBox="1"/>
          <p:nvPr/>
        </p:nvSpPr>
        <p:spPr>
          <a:xfrm>
            <a:off x="1854175" y="3794760"/>
            <a:ext cx="9788881" cy="365760"/>
          </a:xfrm>
          <a:prstGeom prst="rect">
            <a:avLst/>
          </a:prstGeom>
          <a:noFill/>
        </p:spPr>
        <p:txBody>
          <a:bodyPr wrap="square" tIns="91440" bIns="91440" anchor="ctr">
            <a:noAutofit/>
          </a:bodyPr>
          <a:lstStyle/>
          <a:p>
            <a:pPr algn="l"/>
            <a:r>
              <a:rPr sz="1200" b="0">
                <a:solidFill>
                  <a:srgbClr val="5C6370"/>
                </a:solidFill>
                <a:latin typeface="Calibri"/>
              </a:rPr>
              <a:t>Política</a:t>
            </a:r>
          </a:p>
        </p:txBody>
      </p:sp>
      <p:sp>
        <p:nvSpPr>
          <p:cNvPr id="14" name="Titulo resultado 2"/>
          <p:cNvSpPr txBox="1"/>
          <p:nvPr/>
        </p:nvSpPr>
        <p:spPr>
          <a:xfrm>
            <a:off x="1579855" y="4160520"/>
            <a:ext cx="9971761" cy="502920"/>
          </a:xfrm>
          <a:prstGeom prst="rect">
            <a:avLst/>
          </a:prstGeom>
          <a:noFill/>
        </p:spPr>
        <p:txBody>
          <a:bodyPr wrap="square" tIns="91440" bIns="91440" anchor="t">
            <a:noAutofit/>
          </a:bodyPr>
          <a:lstStyle/>
          <a:p>
            <a:pPr algn="l"/>
            <a:r>
              <a:rPr sz="2000" b="0">
                <a:solidFill>
                  <a:srgbClr val="1B1F24"/>
                </a:solidFill>
                <a:latin typeface="Calibri"/>
              </a:rPr>
              <a:t>sainsbury s labour election gift science minister lord</a:t>
            </a:r>
          </a:p>
        </p:txBody>
      </p:sp>
      <p:sp>
        <p:nvSpPr>
          <p:cNvPr id="15" name="Tarjeta 3"/>
          <p:cNvSpPr/>
          <p:nvPr/>
        </p:nvSpPr>
        <p:spPr>
          <a:xfrm>
            <a:off x="640080" y="4846320"/>
            <a:ext cx="10911535" cy="960120"/>
          </a:xfrm>
          <a:prstGeom prst="roundRect">
            <a:avLst>
              <a:gd name="adj" fmla="val 11428"/>
            </a:avLst>
          </a:prstGeom>
          <a:solidFill>
            <a:srgbClr val="FFFFFF"/>
          </a:solidFill>
          <a:ln w="12700">
            <a:solidFill>
              <a:srgbClr val="C9CCD1"/>
            </a:solidFill>
          </a:ln>
        </p:spPr>
        <p:txBody>
          <a:bodyPr rtlCol="0" anchor="ctr"/>
          <a:lstStyle/>
          <a:p>
            <a:pPr algn="ctr"/>
          </a:p>
        </p:txBody>
      </p:sp>
      <p:sp>
        <p:nvSpPr>
          <p:cNvPr id="16" name="Rango 3"/>
          <p:cNvSpPr txBox="1"/>
          <p:nvPr/>
        </p:nvSpPr>
        <p:spPr>
          <a:xfrm>
            <a:off x="640080" y="4846320"/>
            <a:ext cx="756895" cy="960120"/>
          </a:xfrm>
          <a:prstGeom prst="rect">
            <a:avLst/>
          </a:prstGeom>
          <a:noFill/>
        </p:spPr>
        <p:txBody>
          <a:bodyPr wrap="square" tIns="91440" bIns="91440" anchor="ctr">
            <a:noAutofit/>
          </a:bodyPr>
          <a:lstStyle/>
          <a:p>
            <a:pPr algn="ctr"/>
            <a:r>
              <a:rPr sz="3000" b="1">
                <a:solidFill>
                  <a:srgbClr val="5C6370"/>
                </a:solidFill>
                <a:latin typeface="Georgia"/>
              </a:rPr>
              <a:t>3</a:t>
            </a:r>
          </a:p>
        </p:txBody>
      </p:sp>
      <p:sp>
        <p:nvSpPr>
          <p:cNvPr id="17" name="Color categoria 3"/>
          <p:cNvSpPr/>
          <p:nvPr/>
        </p:nvSpPr>
        <p:spPr>
          <a:xfrm>
            <a:off x="1671295" y="4992624"/>
            <a:ext cx="164592" cy="164592"/>
          </a:xfrm>
          <a:prstGeom prst="rect">
            <a:avLst/>
          </a:prstGeom>
          <a:solidFill>
            <a:srgbClr val="2A9D8F"/>
          </a:solidFill>
          <a:ln>
            <a:noFill/>
          </a:ln>
        </p:spPr>
        <p:txBody>
          <a:bodyPr rtlCol="0" anchor="ctr"/>
          <a:lstStyle/>
          <a:p>
            <a:pPr algn="ctr"/>
          </a:p>
        </p:txBody>
      </p:sp>
      <p:sp>
        <p:nvSpPr>
          <p:cNvPr id="18" name="Categoria 3"/>
          <p:cNvSpPr txBox="1"/>
          <p:nvPr/>
        </p:nvSpPr>
        <p:spPr>
          <a:xfrm>
            <a:off x="1854175" y="4892040"/>
            <a:ext cx="9788881" cy="365760"/>
          </a:xfrm>
          <a:prstGeom prst="rect">
            <a:avLst/>
          </a:prstGeom>
          <a:noFill/>
        </p:spPr>
        <p:txBody>
          <a:bodyPr wrap="square" tIns="91440" bIns="91440" anchor="ctr">
            <a:noAutofit/>
          </a:bodyPr>
          <a:lstStyle/>
          <a:p>
            <a:pPr algn="l"/>
            <a:r>
              <a:rPr sz="1200" b="0">
                <a:solidFill>
                  <a:srgbClr val="5C6370"/>
                </a:solidFill>
                <a:latin typeface="Calibri"/>
              </a:rPr>
              <a:t>Política</a:t>
            </a:r>
          </a:p>
        </p:txBody>
      </p:sp>
      <p:sp>
        <p:nvSpPr>
          <p:cNvPr id="19" name="Titulo resultado 3"/>
          <p:cNvSpPr txBox="1"/>
          <p:nvPr/>
        </p:nvSpPr>
        <p:spPr>
          <a:xfrm>
            <a:off x="1579855" y="5257800"/>
            <a:ext cx="9971761" cy="502920"/>
          </a:xfrm>
          <a:prstGeom prst="rect">
            <a:avLst/>
          </a:prstGeom>
          <a:noFill/>
        </p:spPr>
        <p:txBody>
          <a:bodyPr wrap="square" tIns="91440" bIns="91440" anchor="t">
            <a:noAutofit/>
          </a:bodyPr>
          <a:lstStyle/>
          <a:p>
            <a:pPr algn="l"/>
            <a:r>
              <a:rPr sz="2000" b="0">
                <a:solidFill>
                  <a:srgbClr val="1B1F24"/>
                </a:solidFill>
                <a:latin typeface="Calibri"/>
              </a:rPr>
              <a:t>top tories on lib dem hit list the</a:t>
            </a:r>
          </a:p>
        </p:txBody>
      </p:sp>
      <p:sp>
        <p:nvSpPr>
          <p:cNvPr id="20" name="Pie proyecto"/>
          <p:cNvSpPr txBox="1"/>
          <p:nvPr/>
        </p:nvSpPr>
        <p:spPr>
          <a:xfrm>
            <a:off x="548640" y="6035040"/>
            <a:ext cx="3576218" cy="365760"/>
          </a:xfrm>
          <a:prstGeom prst="rect">
            <a:avLst/>
          </a:prstGeom>
          <a:noFill/>
        </p:spPr>
        <p:txBody>
          <a:bodyPr wrap="square" tIns="91440" bIns="91440" anchor="t">
            <a:noAutofit/>
          </a:bodyPr>
          <a:lstStyle/>
          <a:p>
            <a:pPr algn="l"/>
            <a:r>
              <a:rPr sz="1200" b="0">
                <a:solidFill>
                  <a:srgbClr val="5C6370"/>
                </a:solidFill>
                <a:latin typeface="Calibri"/>
              </a:rPr>
              <a:t>BBC News IR</a:t>
            </a:r>
          </a:p>
        </p:txBody>
      </p:sp>
      <p:sp>
        <p:nvSpPr>
          <p:cNvPr id="21" name="Numero de diapositiva"/>
          <p:cNvSpPr txBox="1"/>
          <p:nvPr/>
        </p:nvSpPr>
        <p:spPr>
          <a:xfrm>
            <a:off x="9946386" y="6035040"/>
            <a:ext cx="1696669" cy="365760"/>
          </a:xfrm>
          <a:prstGeom prst="rect">
            <a:avLst/>
          </a:prstGeom>
          <a:noFill/>
        </p:spPr>
        <p:txBody>
          <a:bodyPr wrap="square" tIns="91440" bIns="91440" anchor="t">
            <a:noAutofit/>
          </a:bodyPr>
          <a:lstStyle/>
          <a:p>
            <a:pPr algn="r"/>
            <a:r>
              <a:rPr sz="1200" b="0">
                <a:solidFill>
                  <a:srgbClr val="5C637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Conclusion"/>
          <p:cNvSpPr txBox="1"/>
          <p:nvPr/>
        </p:nvSpPr>
        <p:spPr>
          <a:xfrm>
            <a:off x="548640" y="1645920"/>
            <a:ext cx="9214866" cy="1554480"/>
          </a:xfrm>
          <a:prstGeom prst="rect">
            <a:avLst/>
          </a:prstGeom>
          <a:noFill/>
        </p:spPr>
        <p:txBody>
          <a:bodyPr wrap="square" tIns="91440" bIns="91440" anchor="t">
            <a:noAutofit/>
          </a:bodyPr>
          <a:lstStyle/>
          <a:p>
            <a:pPr algn="l"/>
            <a:r>
              <a:rPr sz="3000" b="1">
                <a:solidFill>
                  <a:srgbClr val="F6F4EF"/>
                </a:solidFill>
                <a:latin typeface="Georgia"/>
              </a:rPr>
              <a:t>Word2Vec y SVD recuperan mejor que los métodos léxicos, aunque su diferencia aún no es concluyente.</a:t>
            </a:r>
          </a:p>
        </p:txBody>
      </p:sp>
      <p:sp>
        <p:nvSpPr>
          <p:cNvPr id="3" name="Etiqueta recomendacion"/>
          <p:cNvSpPr txBox="1"/>
          <p:nvPr/>
        </p:nvSpPr>
        <p:spPr>
          <a:xfrm>
            <a:off x="548640" y="3749040"/>
            <a:ext cx="8275091" cy="365760"/>
          </a:xfrm>
          <a:prstGeom prst="rect">
            <a:avLst/>
          </a:prstGeom>
          <a:noFill/>
        </p:spPr>
        <p:txBody>
          <a:bodyPr wrap="square" tIns="91440" bIns="91440" anchor="t">
            <a:noAutofit/>
          </a:bodyPr>
          <a:lstStyle/>
          <a:p>
            <a:pPr algn="l"/>
            <a:r>
              <a:rPr sz="1200" b="1">
                <a:solidFill>
                  <a:srgbClr val="E07A1F"/>
                </a:solidFill>
                <a:latin typeface="Calibri"/>
              </a:rPr>
              <a:t>Recomendación</a:t>
            </a:r>
          </a:p>
        </p:txBody>
      </p:sp>
      <p:sp>
        <p:nvSpPr>
          <p:cNvPr id="4" name="Recomendacion"/>
          <p:cNvSpPr txBox="1"/>
          <p:nvPr/>
        </p:nvSpPr>
        <p:spPr>
          <a:xfrm>
            <a:off x="548640" y="4114800"/>
            <a:ext cx="8275091" cy="1097280"/>
          </a:xfrm>
          <a:prstGeom prst="rect">
            <a:avLst/>
          </a:prstGeom>
          <a:noFill/>
        </p:spPr>
        <p:txBody>
          <a:bodyPr wrap="square" tIns="91440" bIns="91440" anchor="t">
            <a:noAutofit/>
          </a:bodyPr>
          <a:lstStyle/>
          <a:p>
            <a:pPr algn="l"/>
            <a:r>
              <a:rPr sz="2000" b="0">
                <a:solidFill>
                  <a:srgbClr val="F6F4EF"/>
                </a:solidFill>
                <a:latin typeface="Calibri"/>
              </a:rPr>
              <a:t>Adoptar Word2Vec como método principal, conservar SVD como alternativa y validar con juicios de relevancia reales, porque aquí la categoría es solo un proxy.</a:t>
            </a:r>
          </a:p>
        </p:txBody>
      </p:sp>
    </p:spTree>
  </p:cSld>
  <p:clrMapOvr>
    <a:masterClrMapping/>
  </p:clrMapOvr>
</p:sld>
</file>

<file path=ppt/theme/theme1.xml><?xml version="1.0" encoding="utf-8"?>
<a:theme xmlns:a="http://schemas.openxmlformats.org/drawingml/2006/main" name="BBC IR">
  <a:themeElements>
    <a:clrScheme name="BBC IR">
      <a:dk1>
        <a:srgbClr val="1B1F24"/>
      </a:dk1>
      <a:lt1>
        <a:srgbClr val="FFFFFF"/>
      </a:lt1>
      <a:dk2>
        <a:srgbClr val="14213D"/>
      </a:dk2>
      <a:lt2>
        <a:srgbClr val="F6F4EF"/>
      </a:lt2>
      <a:accent1>
        <a:srgbClr val="E07A1F"/>
      </a:accent1>
      <a:accent2>
        <a:srgbClr val="2A9D8F"/>
      </a:accent2>
      <a:accent3>
        <a:srgbClr val="8E5572"/>
      </a:accent3>
      <a:accent4>
        <a:srgbClr val="6C8EAD"/>
      </a:accent4>
      <a:accent5>
        <a:srgbClr val="5C6370"/>
      </a:accent5>
      <a:accent6>
        <a:srgbClr val="C9CCD1"/>
      </a:accent6>
      <a:hlink>
        <a:srgbClr val="B05400"/>
      </a:hlink>
      <a:folHlink>
        <a:srgbClr val="5C6370"/>
      </a:folHlink>
    </a:clrScheme>
    <a:fontScheme name="BBC IR">
      <a:majorFont>
        <a:latin typeface="Georg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Recuperación de información en BBC News</dc:title>
  <dc:subject>Minería de Textos · Ciencia de Datos</dc:subject>
  <dc:creator>Diego Moctezuma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